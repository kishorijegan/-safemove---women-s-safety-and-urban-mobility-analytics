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2FA"/>
        </a:solidFill>
        <a:effectLst/>
      </p:bgPr>
    </p:bg>
    <p:spTree>
      <p:nvGrpSpPr>
        <p:cNvPr id="1" name=""/>
        <p:cNvGrpSpPr/>
        <p:nvPr/>
      </p:nvGrpSpPr>
      <p:grpSpPr/>
      <p:sp>
        <p:nvSpPr>
          <p:cNvPr id="2" name="Rectangle 1"/>
          <p:cNvSpPr/>
          <p:nvPr/>
        </p:nvSpPr>
        <p:spPr>
          <a:xfrm>
            <a:off x="9052560" y="0"/>
            <a:ext cx="3136392" cy="6858000"/>
          </a:xfrm>
          <a:prstGeom prst="rect">
            <a:avLst/>
          </a:prstGeom>
          <a:solidFill>
            <a:srgbClr val="E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692640" y="411480"/>
            <a:ext cx="2496312" cy="109728"/>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823960" y="6309360"/>
            <a:ext cx="3364992" cy="548640"/>
          </a:xfrm>
          <a:prstGeom prst="rect">
            <a:avLst/>
          </a:prstGeom>
          <a:solidFill>
            <a:srgbClr val="38B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94360"/>
            <a:ext cx="7955279" cy="365760"/>
          </a:xfrm>
          <a:prstGeom prst="rect">
            <a:avLst/>
          </a:prstGeom>
          <a:noFill/>
        </p:spPr>
        <p:txBody>
          <a:bodyPr wrap="square" lIns="73152" rIns="73152" tIns="36576" anchor="t">
            <a:spAutoFit/>
          </a:bodyPr>
          <a:lstStyle/>
          <a:p>
            <a:pPr>
              <a:spcAft>
                <a:spcPts val="500"/>
              </a:spcAft>
              <a:defRPr sz="1300" b="1">
                <a:solidFill>
                  <a:srgbClr val="DE3FA3"/>
                </a:solidFill>
                <a:latin typeface="Aptos"/>
              </a:defRPr>
            </a:pPr>
            <a:r>
              <a:t>POWER BI BUSINESS INTELLIGENCE PROJECT</a:t>
            </a:r>
          </a:p>
        </p:txBody>
      </p:sp>
      <p:sp>
        <p:nvSpPr>
          <p:cNvPr id="6" name="TextBox 5"/>
          <p:cNvSpPr txBox="1"/>
          <p:nvPr/>
        </p:nvSpPr>
        <p:spPr>
          <a:xfrm>
            <a:off x="685800" y="1280160"/>
            <a:ext cx="7955279" cy="1005840"/>
          </a:xfrm>
          <a:prstGeom prst="rect">
            <a:avLst/>
          </a:prstGeom>
          <a:noFill/>
        </p:spPr>
        <p:txBody>
          <a:bodyPr wrap="square" lIns="73152" rIns="73152" tIns="36576" anchor="t">
            <a:spAutoFit/>
          </a:bodyPr>
          <a:lstStyle/>
          <a:p>
            <a:pPr>
              <a:spcAft>
                <a:spcPts val="500"/>
              </a:spcAft>
              <a:defRPr sz="4200" b="1">
                <a:solidFill>
                  <a:srgbClr val="1C2C70"/>
                </a:solidFill>
                <a:latin typeface="Aptos"/>
              </a:defRPr>
            </a:pPr>
            <a:r>
              <a:t>SAFEMOVE</a:t>
            </a:r>
          </a:p>
        </p:txBody>
      </p:sp>
      <p:sp>
        <p:nvSpPr>
          <p:cNvPr id="7" name="TextBox 6"/>
          <p:cNvSpPr txBox="1"/>
          <p:nvPr/>
        </p:nvSpPr>
        <p:spPr>
          <a:xfrm>
            <a:off x="713232" y="2331720"/>
            <a:ext cx="7863840" cy="502920"/>
          </a:xfrm>
          <a:prstGeom prst="rect">
            <a:avLst/>
          </a:prstGeom>
          <a:noFill/>
        </p:spPr>
        <p:txBody>
          <a:bodyPr wrap="square" lIns="73152" rIns="73152" tIns="36576" anchor="t">
            <a:spAutoFit/>
          </a:bodyPr>
          <a:lstStyle/>
          <a:p>
            <a:pPr>
              <a:spcAft>
                <a:spcPts val="500"/>
              </a:spcAft>
              <a:defRPr sz="2300" b="1">
                <a:solidFill>
                  <a:srgbClr val="237BBE"/>
                </a:solidFill>
                <a:latin typeface="Aptos"/>
              </a:defRPr>
            </a:pPr>
            <a:r>
              <a:t>Women’s Safety &amp; Urban Mobility Analytics</a:t>
            </a:r>
          </a:p>
        </p:txBody>
      </p:sp>
      <p:sp>
        <p:nvSpPr>
          <p:cNvPr id="8" name="TextBox 7"/>
          <p:cNvSpPr txBox="1"/>
          <p:nvPr/>
        </p:nvSpPr>
        <p:spPr>
          <a:xfrm>
            <a:off x="731520" y="3063240"/>
            <a:ext cx="7498079" cy="960120"/>
          </a:xfrm>
          <a:prstGeom prst="rect">
            <a:avLst/>
          </a:prstGeom>
          <a:noFill/>
        </p:spPr>
        <p:txBody>
          <a:bodyPr wrap="square" lIns="73152" rIns="73152" tIns="36576" anchor="t">
            <a:spAutoFit/>
          </a:bodyPr>
          <a:lstStyle/>
          <a:p>
            <a:pPr>
              <a:spcAft>
                <a:spcPts val="500"/>
              </a:spcAft>
              <a:defRPr sz="1800" b="0">
                <a:solidFill>
                  <a:srgbClr val="2A3358"/>
                </a:solidFill>
                <a:latin typeface="Aptos"/>
              </a:defRPr>
            </a:pPr>
            <a:r>
              <a:t>Turning incident data into clearer safety insights</a:t>
            </a:r>
          </a:p>
          <a:p>
            <a:pPr>
              <a:spcAft>
                <a:spcPts val="500"/>
              </a:spcAft>
              <a:defRPr sz="1800" b="0">
                <a:solidFill>
                  <a:srgbClr val="2A3358"/>
                </a:solidFill>
                <a:latin typeface="Aptos"/>
              </a:defRPr>
            </a:pPr>
            <a:r>
              <a:t>for safer journeys and stronger cities.</a:t>
            </a:r>
          </a:p>
        </p:txBody>
      </p:sp>
      <p:sp>
        <p:nvSpPr>
          <p:cNvPr id="9" name="Rounded Rectangle 8"/>
          <p:cNvSpPr/>
          <p:nvPr/>
        </p:nvSpPr>
        <p:spPr>
          <a:xfrm>
            <a:off x="731520" y="4617720"/>
            <a:ext cx="7223760" cy="96012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617720"/>
            <a:ext cx="64008" cy="96012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4709159"/>
            <a:ext cx="694944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PROJECT TOOLKIT</a:t>
            </a:r>
          </a:p>
        </p:txBody>
      </p:sp>
      <p:sp>
        <p:nvSpPr>
          <p:cNvPr id="12" name="TextBox 11"/>
          <p:cNvSpPr txBox="1"/>
          <p:nvPr/>
        </p:nvSpPr>
        <p:spPr>
          <a:xfrm>
            <a:off x="896112" y="5065776"/>
            <a:ext cx="6949440" cy="457200"/>
          </a:xfrm>
          <a:prstGeom prst="rect">
            <a:avLst/>
          </a:prstGeom>
          <a:noFill/>
        </p:spPr>
        <p:txBody>
          <a:bodyPr wrap="square" lIns="73152" rIns="73152" tIns="36576" anchor="t">
            <a:spAutoFit/>
          </a:bodyPr>
          <a:lstStyle/>
          <a:p>
            <a:pPr>
              <a:spcAft>
                <a:spcPts val="500"/>
              </a:spcAft>
              <a:defRPr sz="1400" b="0">
                <a:solidFill>
                  <a:srgbClr val="2A3358"/>
                </a:solidFill>
                <a:latin typeface="Aptos"/>
              </a:defRPr>
            </a:pPr>
            <a:r>
              <a:t>Microsoft Power BI  •  Power Query  •  DAX  •  Data Visualization</a:t>
            </a:r>
          </a:p>
        </p:txBody>
      </p:sp>
      <p:sp>
        <p:nvSpPr>
          <p:cNvPr id="13" name="TextBox 12"/>
          <p:cNvSpPr txBox="1"/>
          <p:nvPr/>
        </p:nvSpPr>
        <p:spPr>
          <a:xfrm>
            <a:off x="731520" y="5989320"/>
            <a:ext cx="7772400" cy="274320"/>
          </a:xfrm>
          <a:prstGeom prst="rect">
            <a:avLst/>
          </a:prstGeom>
          <a:noFill/>
        </p:spPr>
        <p:txBody>
          <a:bodyPr wrap="square" lIns="73152" rIns="73152" tIns="36576" anchor="t">
            <a:spAutoFit/>
          </a:bodyPr>
          <a:lstStyle/>
          <a:p>
            <a:pPr>
              <a:spcAft>
                <a:spcPts val="500"/>
              </a:spcAft>
              <a:defRPr sz="1100" b="1">
                <a:solidFill>
                  <a:srgbClr val="647191"/>
                </a:solidFill>
                <a:latin typeface="Aptos"/>
              </a:defRPr>
            </a:pPr>
            <a:r>
              <a:t>PROJECT PRESENTATION  •  2026</a:t>
            </a:r>
          </a:p>
        </p:txBody>
      </p:sp>
      <p:sp>
        <p:nvSpPr>
          <p:cNvPr id="14" name="TextBox 13"/>
          <p:cNvSpPr txBox="1"/>
          <p:nvPr/>
        </p:nvSpPr>
        <p:spPr>
          <a:xfrm>
            <a:off x="9235440" y="1828800"/>
            <a:ext cx="2514600" cy="1554480"/>
          </a:xfrm>
          <a:prstGeom prst="rect">
            <a:avLst/>
          </a:prstGeom>
          <a:noFill/>
        </p:spPr>
        <p:txBody>
          <a:bodyPr wrap="square" lIns="73152" rIns="73152" tIns="36576" anchor="ctr">
            <a:spAutoFit/>
          </a:bodyPr>
          <a:lstStyle/>
          <a:p>
            <a:pPr algn="ctr">
              <a:spcAft>
                <a:spcPts val="500"/>
              </a:spcAft>
              <a:defRPr sz="2200" b="1">
                <a:solidFill>
                  <a:srgbClr val="1C2C70"/>
                </a:solidFill>
                <a:latin typeface="Aptos"/>
              </a:defRPr>
            </a:pPr>
            <a:r>
              <a:t>SAFE</a:t>
            </a:r>
          </a:p>
          <a:p>
            <a:pPr algn="ctr">
              <a:spcAft>
                <a:spcPts val="500"/>
              </a:spcAft>
              <a:defRPr sz="2200" b="1">
                <a:solidFill>
                  <a:srgbClr val="1C2C70"/>
                </a:solidFill>
                <a:latin typeface="Aptos"/>
              </a:defRPr>
            </a:pPr>
            <a:r>
              <a:t>EVERYDAY</a:t>
            </a:r>
          </a:p>
          <a:p>
            <a:pPr algn="ctr">
              <a:spcAft>
                <a:spcPts val="500"/>
              </a:spcAft>
              <a:defRPr sz="2200" b="1">
                <a:solidFill>
                  <a:srgbClr val="1C2C70"/>
                </a:solidFill>
                <a:latin typeface="Aptos"/>
              </a:defRPr>
            </a:pPr>
            <a:r>
              <a:t>EVERYWHERE</a:t>
            </a:r>
          </a:p>
        </p:txBody>
      </p:sp>
      <p:sp>
        <p:nvSpPr>
          <p:cNvPr id="15" name="TextBox 14"/>
          <p:cNvSpPr txBox="1"/>
          <p:nvPr/>
        </p:nvSpPr>
        <p:spPr>
          <a:xfrm>
            <a:off x="9326880" y="4069080"/>
            <a:ext cx="2377440" cy="1097280"/>
          </a:xfrm>
          <a:prstGeom prst="rect">
            <a:avLst/>
          </a:prstGeom>
          <a:noFill/>
        </p:spPr>
        <p:txBody>
          <a:bodyPr wrap="square" lIns="73152" rIns="73152" tIns="36576" anchor="ctr">
            <a:spAutoFit/>
          </a:bodyPr>
          <a:lstStyle/>
          <a:p>
            <a:pPr algn="ctr">
              <a:spcAft>
                <a:spcPts val="500"/>
              </a:spcAft>
              <a:defRPr sz="1500" b="1">
                <a:solidFill>
                  <a:srgbClr val="DE3FA3"/>
                </a:solidFill>
                <a:latin typeface="Aptos"/>
              </a:defRPr>
            </a:pPr>
            <a:r>
              <a:t>DATA</a:t>
            </a:r>
          </a:p>
          <a:p>
            <a:pPr algn="ctr">
              <a:spcAft>
                <a:spcPts val="500"/>
              </a:spcAft>
              <a:defRPr sz="1500" b="1">
                <a:solidFill>
                  <a:srgbClr val="DE3FA3"/>
                </a:solidFill>
                <a:latin typeface="Aptos"/>
              </a:defRPr>
            </a:pPr>
            <a:r>
              <a:t>INSIGHTS</a:t>
            </a:r>
          </a:p>
          <a:p>
            <a:pPr algn="ctr">
              <a:spcAft>
                <a:spcPts val="500"/>
              </a:spcAft>
              <a:defRPr sz="1500" b="1">
                <a:solidFill>
                  <a:srgbClr val="DE3FA3"/>
                </a:solidFill>
                <a:latin typeface="Aptos"/>
              </a:defRPr>
            </a:pPr>
            <a:r>
              <a:t>SAFER TOMORROW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972800" cy="228600"/>
          </a:xfrm>
          <a:prstGeom prst="rect">
            <a:avLst/>
          </a:prstGeom>
          <a:noFill/>
        </p:spPr>
        <p:txBody>
          <a:bodyPr wrap="square" lIns="73152" rIns="73152" tIns="36576" anchor="t">
            <a:spAutoFit/>
          </a:bodyPr>
          <a:lstStyle/>
          <a:p>
            <a:pPr>
              <a:spcAft>
                <a:spcPts val="500"/>
              </a:spcAft>
              <a:defRPr sz="1000" b="1">
                <a:solidFill>
                  <a:srgbClr val="1C2C70"/>
                </a:solidFill>
                <a:latin typeface="Aptos"/>
              </a:defRPr>
            </a:pPr>
            <a:r>
              <a:t>DATA  |  INSIGHTS  |  SAFER TOMORROW</a:t>
            </a:r>
          </a:p>
        </p:txBody>
      </p:sp>
      <p:sp>
        <p:nvSpPr>
          <p:cNvPr id="3" name="TextBox 2"/>
          <p:cNvSpPr txBox="1"/>
          <p:nvPr/>
        </p:nvSpPr>
        <p:spPr>
          <a:xfrm>
            <a:off x="502920" y="457200"/>
            <a:ext cx="11155680" cy="502920"/>
          </a:xfrm>
          <a:prstGeom prst="rect">
            <a:avLst/>
          </a:prstGeom>
          <a:noFill/>
        </p:spPr>
        <p:txBody>
          <a:bodyPr wrap="square" lIns="73152" rIns="73152" tIns="36576" anchor="t">
            <a:spAutoFit/>
          </a:bodyPr>
          <a:lstStyle/>
          <a:p>
            <a:pPr>
              <a:spcAft>
                <a:spcPts val="500"/>
              </a:spcAft>
              <a:defRPr sz="2600" b="1">
                <a:solidFill>
                  <a:srgbClr val="237BBE"/>
                </a:solidFill>
                <a:latin typeface="Aptos"/>
              </a:defRPr>
            </a:pPr>
            <a:r>
              <a:t>Project at a Glance</a:t>
            </a:r>
          </a:p>
        </p:txBody>
      </p:sp>
      <p:sp>
        <p:nvSpPr>
          <p:cNvPr id="4" name="TextBox 3"/>
          <p:cNvSpPr txBox="1"/>
          <p:nvPr/>
        </p:nvSpPr>
        <p:spPr>
          <a:xfrm>
            <a:off x="530352" y="969264"/>
            <a:ext cx="10972800" cy="310896"/>
          </a:xfrm>
          <a:prstGeom prst="rect">
            <a:avLst/>
          </a:prstGeom>
          <a:noFill/>
        </p:spPr>
        <p:txBody>
          <a:bodyPr wrap="square" lIns="73152" rIns="73152" tIns="36576" anchor="t">
            <a:spAutoFit/>
          </a:bodyPr>
          <a:lstStyle/>
          <a:p>
            <a:pPr>
              <a:spcAft>
                <a:spcPts val="500"/>
              </a:spcAft>
              <a:defRPr sz="1300" b="0">
                <a:solidFill>
                  <a:srgbClr val="DE3FA3"/>
                </a:solidFill>
                <a:latin typeface="Aptos"/>
              </a:defRPr>
            </a:pPr>
            <a:r>
              <a:t>From incident data to interactive safety intelligence</a:t>
            </a:r>
          </a:p>
        </p:txBody>
      </p:sp>
      <p:sp>
        <p:nvSpPr>
          <p:cNvPr id="5" name="Rectangle 4"/>
          <p:cNvSpPr/>
          <p:nvPr/>
        </p:nvSpPr>
        <p:spPr>
          <a:xfrm>
            <a:off x="502920" y="1335024"/>
            <a:ext cx="11155680" cy="2286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28816"/>
            <a:ext cx="457200" cy="182880"/>
          </a:xfrm>
          <a:prstGeom prst="rect">
            <a:avLst/>
          </a:prstGeom>
          <a:noFill/>
        </p:spPr>
        <p:txBody>
          <a:bodyPr wrap="square" lIns="73152" rIns="73152" tIns="36576" anchor="t">
            <a:spAutoFit/>
          </a:bodyPr>
          <a:lstStyle/>
          <a:p>
            <a:pPr algn="r">
              <a:spcAft>
                <a:spcPts val="500"/>
              </a:spcAft>
              <a:defRPr sz="900" b="1">
                <a:solidFill>
                  <a:srgbClr val="647191"/>
                </a:solidFill>
                <a:latin typeface="Aptos"/>
              </a:defRPr>
            </a:pPr>
            <a:r>
              <a:t>02</a:t>
            </a:r>
          </a:p>
        </p:txBody>
      </p:sp>
      <p:sp>
        <p:nvSpPr>
          <p:cNvPr id="7" name="Rounded Rectangle 6"/>
          <p:cNvSpPr/>
          <p:nvPr/>
        </p:nvSpPr>
        <p:spPr>
          <a:xfrm>
            <a:off x="594360" y="1645920"/>
            <a:ext cx="2606040" cy="11430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645920"/>
            <a:ext cx="64008" cy="114300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737360"/>
            <a:ext cx="233172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TOTAL RECORDS</a:t>
            </a:r>
          </a:p>
        </p:txBody>
      </p:sp>
      <p:sp>
        <p:nvSpPr>
          <p:cNvPr id="10" name="TextBox 9"/>
          <p:cNvSpPr txBox="1"/>
          <p:nvPr/>
        </p:nvSpPr>
        <p:spPr>
          <a:xfrm>
            <a:off x="758952" y="2093976"/>
            <a:ext cx="2331720" cy="640080"/>
          </a:xfrm>
          <a:prstGeom prst="rect">
            <a:avLst/>
          </a:prstGeom>
          <a:noFill/>
        </p:spPr>
        <p:txBody>
          <a:bodyPr wrap="square" lIns="73152" rIns="73152" tIns="36576" anchor="t">
            <a:spAutoFit/>
          </a:bodyPr>
          <a:lstStyle/>
          <a:p>
            <a:pPr>
              <a:spcAft>
                <a:spcPts val="500"/>
              </a:spcAft>
              <a:defRPr sz="1300" b="0">
                <a:solidFill>
                  <a:srgbClr val="2A3358"/>
                </a:solidFill>
                <a:latin typeface="Aptos"/>
              </a:defRPr>
            </a:pPr>
            <a:r>
              <a:t>100K incident records represented in the dashboard.</a:t>
            </a:r>
          </a:p>
        </p:txBody>
      </p:sp>
      <p:sp>
        <p:nvSpPr>
          <p:cNvPr id="11" name="Rounded Rectangle 10"/>
          <p:cNvSpPr/>
          <p:nvPr/>
        </p:nvSpPr>
        <p:spPr>
          <a:xfrm>
            <a:off x="3429000" y="1645920"/>
            <a:ext cx="2606040" cy="11430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645920"/>
            <a:ext cx="64008" cy="1143000"/>
          </a:xfrm>
          <a:prstGeom prst="rect">
            <a:avLst/>
          </a:prstGeom>
          <a:solidFill>
            <a:srgbClr val="237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1737360"/>
            <a:ext cx="233172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REPORTED INCIDENTS</a:t>
            </a:r>
          </a:p>
        </p:txBody>
      </p:sp>
      <p:sp>
        <p:nvSpPr>
          <p:cNvPr id="14" name="TextBox 13"/>
          <p:cNvSpPr txBox="1"/>
          <p:nvPr/>
        </p:nvSpPr>
        <p:spPr>
          <a:xfrm>
            <a:off x="3593592" y="2093976"/>
            <a:ext cx="2331720" cy="640080"/>
          </a:xfrm>
          <a:prstGeom prst="rect">
            <a:avLst/>
          </a:prstGeom>
          <a:noFill/>
        </p:spPr>
        <p:txBody>
          <a:bodyPr wrap="square" lIns="73152" rIns="73152" tIns="36576" anchor="t">
            <a:spAutoFit/>
          </a:bodyPr>
          <a:lstStyle/>
          <a:p>
            <a:pPr>
              <a:spcAft>
                <a:spcPts val="500"/>
              </a:spcAft>
              <a:defRPr sz="1300" b="0">
                <a:solidFill>
                  <a:srgbClr val="2A3358"/>
                </a:solidFill>
                <a:latin typeface="Aptos"/>
              </a:defRPr>
            </a:pPr>
            <a:r>
              <a:t>91K reported incidents shown in the Overview KPIs.</a:t>
            </a:r>
          </a:p>
        </p:txBody>
      </p:sp>
      <p:sp>
        <p:nvSpPr>
          <p:cNvPr id="15" name="Rounded Rectangle 14"/>
          <p:cNvSpPr/>
          <p:nvPr/>
        </p:nvSpPr>
        <p:spPr>
          <a:xfrm>
            <a:off x="6263640" y="1645920"/>
            <a:ext cx="2606040" cy="11430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645920"/>
            <a:ext cx="64008" cy="1143000"/>
          </a:xfrm>
          <a:prstGeom prst="rect">
            <a:avLst/>
          </a:prstGeom>
          <a:solidFill>
            <a:srgbClr val="38B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1" y="1737360"/>
            <a:ext cx="233172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SAFETY INDEX</a:t>
            </a:r>
          </a:p>
        </p:txBody>
      </p:sp>
      <p:sp>
        <p:nvSpPr>
          <p:cNvPr id="18" name="TextBox 17"/>
          <p:cNvSpPr txBox="1"/>
          <p:nvPr/>
        </p:nvSpPr>
        <p:spPr>
          <a:xfrm>
            <a:off x="6428231" y="2093976"/>
            <a:ext cx="2331720" cy="640080"/>
          </a:xfrm>
          <a:prstGeom prst="rect">
            <a:avLst/>
          </a:prstGeom>
          <a:noFill/>
        </p:spPr>
        <p:txBody>
          <a:bodyPr wrap="square" lIns="73152" rIns="73152" tIns="36576" anchor="t">
            <a:spAutoFit/>
          </a:bodyPr>
          <a:lstStyle/>
          <a:p>
            <a:pPr>
              <a:spcAft>
                <a:spcPts val="500"/>
              </a:spcAft>
              <a:defRPr sz="1300" b="0">
                <a:solidFill>
                  <a:srgbClr val="2A3358"/>
                </a:solidFill>
                <a:latin typeface="Aptos"/>
              </a:defRPr>
            </a:pPr>
            <a:r>
              <a:t>Overall Safety Index displayed: 62.81.</a:t>
            </a:r>
          </a:p>
        </p:txBody>
      </p:sp>
      <p:sp>
        <p:nvSpPr>
          <p:cNvPr id="19" name="Rounded Rectangle 18"/>
          <p:cNvSpPr/>
          <p:nvPr/>
        </p:nvSpPr>
        <p:spPr>
          <a:xfrm>
            <a:off x="9098280" y="1645920"/>
            <a:ext cx="2606040" cy="11430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98280" y="1645920"/>
            <a:ext cx="64008" cy="114300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62872" y="1737360"/>
            <a:ext cx="233172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RESPONSE TIME</a:t>
            </a:r>
          </a:p>
        </p:txBody>
      </p:sp>
      <p:sp>
        <p:nvSpPr>
          <p:cNvPr id="22" name="TextBox 21"/>
          <p:cNvSpPr txBox="1"/>
          <p:nvPr/>
        </p:nvSpPr>
        <p:spPr>
          <a:xfrm>
            <a:off x="9262872" y="2093976"/>
            <a:ext cx="2331720" cy="640080"/>
          </a:xfrm>
          <a:prstGeom prst="rect">
            <a:avLst/>
          </a:prstGeom>
          <a:noFill/>
        </p:spPr>
        <p:txBody>
          <a:bodyPr wrap="square" lIns="73152" rIns="73152" tIns="36576" anchor="t">
            <a:spAutoFit/>
          </a:bodyPr>
          <a:lstStyle/>
          <a:p>
            <a:pPr>
              <a:spcAft>
                <a:spcPts val="500"/>
              </a:spcAft>
              <a:defRPr sz="1300" b="0">
                <a:solidFill>
                  <a:srgbClr val="2A3358"/>
                </a:solidFill>
                <a:latin typeface="Aptos"/>
              </a:defRPr>
            </a:pPr>
            <a:r>
              <a:t>Average emergency response time: 19.54 minutes.</a:t>
            </a:r>
          </a:p>
        </p:txBody>
      </p:sp>
      <p:sp>
        <p:nvSpPr>
          <p:cNvPr id="23" name="TextBox 22"/>
          <p:cNvSpPr txBox="1"/>
          <p:nvPr/>
        </p:nvSpPr>
        <p:spPr>
          <a:xfrm>
            <a:off x="731520" y="3154680"/>
            <a:ext cx="5029200" cy="320040"/>
          </a:xfrm>
          <a:prstGeom prst="rect">
            <a:avLst/>
          </a:prstGeom>
          <a:noFill/>
        </p:spPr>
        <p:txBody>
          <a:bodyPr wrap="square" lIns="73152" rIns="73152" tIns="36576" anchor="t">
            <a:spAutoFit/>
          </a:bodyPr>
          <a:lstStyle/>
          <a:p>
            <a:pPr>
              <a:spcAft>
                <a:spcPts val="500"/>
              </a:spcAft>
              <a:defRPr sz="1700" b="1">
                <a:solidFill>
                  <a:srgbClr val="1C2C70"/>
                </a:solidFill>
                <a:latin typeface="Aptos"/>
              </a:defRPr>
            </a:pPr>
            <a:r>
              <a:t>PROJECT FOCUS</a:t>
            </a:r>
          </a:p>
        </p:txBody>
      </p:sp>
      <p:sp>
        <p:nvSpPr>
          <p:cNvPr id="24" name="TextBox 23"/>
          <p:cNvSpPr txBox="1"/>
          <p:nvPr/>
        </p:nvSpPr>
        <p:spPr>
          <a:xfrm>
            <a:off x="777240" y="3566160"/>
            <a:ext cx="5120640" cy="2286000"/>
          </a:xfrm>
          <a:prstGeom prst="rect">
            <a:avLst/>
          </a:prstGeom>
          <a:noFill/>
        </p:spPr>
        <p:txBody>
          <a:bodyPr wrap="square" lIns="73152" rIns="73152" tIns="36576" anchor="t">
            <a:spAutoFit/>
          </a:bodyPr>
          <a:lstStyle/>
          <a:p>
            <a:pPr>
              <a:spcAft>
                <a:spcPts val="500"/>
              </a:spcAft>
              <a:defRPr sz="1400" b="0">
                <a:solidFill>
                  <a:srgbClr val="2A3358"/>
                </a:solidFill>
                <a:latin typeface="Aptos"/>
              </a:defRPr>
            </a:pPr>
            <a:r>
              <a:t>•  Explore incidents across cities, areas, times and transport modes.</a:t>
            </a:r>
          </a:p>
          <a:p>
            <a:pPr>
              <a:spcAft>
                <a:spcPts val="500"/>
              </a:spcAft>
              <a:defRPr sz="1400" b="0">
                <a:solidFill>
                  <a:srgbClr val="2A3358"/>
                </a:solidFill>
                <a:latin typeface="Aptos"/>
              </a:defRPr>
            </a:pPr>
            <a:r>
              <a:t>•  Compare safety indicators and severity patterns.</a:t>
            </a:r>
          </a:p>
          <a:p>
            <a:pPr>
              <a:spcAft>
                <a:spcPts val="500"/>
              </a:spcAft>
              <a:defRPr sz="1400" b="0">
                <a:solidFill>
                  <a:srgbClr val="2A3358"/>
                </a:solidFill>
                <a:latin typeface="Aptos"/>
              </a:defRPr>
            </a:pPr>
            <a:r>
              <a:t>•  Review emergency response measures and case outcomes.</a:t>
            </a:r>
          </a:p>
        </p:txBody>
      </p:sp>
      <p:sp>
        <p:nvSpPr>
          <p:cNvPr id="25" name="TextBox 24"/>
          <p:cNvSpPr txBox="1"/>
          <p:nvPr/>
        </p:nvSpPr>
        <p:spPr>
          <a:xfrm>
            <a:off x="6263640" y="3154680"/>
            <a:ext cx="5029200" cy="320040"/>
          </a:xfrm>
          <a:prstGeom prst="rect">
            <a:avLst/>
          </a:prstGeom>
          <a:noFill/>
        </p:spPr>
        <p:txBody>
          <a:bodyPr wrap="square" lIns="73152" rIns="73152" tIns="36576" anchor="t">
            <a:spAutoFit/>
          </a:bodyPr>
          <a:lstStyle/>
          <a:p>
            <a:pPr>
              <a:spcAft>
                <a:spcPts val="500"/>
              </a:spcAft>
              <a:defRPr sz="1700" b="1">
                <a:solidFill>
                  <a:srgbClr val="1C2C70"/>
                </a:solidFill>
                <a:latin typeface="Aptos"/>
              </a:defRPr>
            </a:pPr>
            <a:r>
              <a:t>FOUR ANALYTICAL PERSPECTIVES</a:t>
            </a:r>
          </a:p>
        </p:txBody>
      </p:sp>
      <p:sp>
        <p:nvSpPr>
          <p:cNvPr id="26" name="TextBox 25"/>
          <p:cNvSpPr txBox="1"/>
          <p:nvPr/>
        </p:nvSpPr>
        <p:spPr>
          <a:xfrm>
            <a:off x="6309360" y="3566160"/>
            <a:ext cx="5120640" cy="2286000"/>
          </a:xfrm>
          <a:prstGeom prst="rect">
            <a:avLst/>
          </a:prstGeom>
          <a:noFill/>
        </p:spPr>
        <p:txBody>
          <a:bodyPr wrap="square" lIns="73152" rIns="73152" tIns="36576" anchor="t">
            <a:spAutoFit/>
          </a:bodyPr>
          <a:lstStyle/>
          <a:p>
            <a:pPr>
              <a:spcAft>
                <a:spcPts val="500"/>
              </a:spcAft>
              <a:defRPr sz="1400" b="0">
                <a:solidFill>
                  <a:srgbClr val="2A3358"/>
                </a:solidFill>
                <a:latin typeface="Aptos"/>
              </a:defRPr>
            </a:pPr>
            <a:r>
              <a:t>•  Overview — key indicators and broad trends</a:t>
            </a:r>
          </a:p>
          <a:p>
            <a:pPr>
              <a:spcAft>
                <a:spcPts val="500"/>
              </a:spcAft>
              <a:defRPr sz="1400" b="0">
                <a:solidFill>
                  <a:srgbClr val="2A3358"/>
                </a:solidFill>
                <a:latin typeface="Aptos"/>
              </a:defRPr>
            </a:pPr>
            <a:r>
              <a:t>•  Hotspots — time patterns and area-level incidents</a:t>
            </a:r>
          </a:p>
          <a:p>
            <a:pPr>
              <a:spcAft>
                <a:spcPts val="500"/>
              </a:spcAft>
              <a:defRPr sz="1400" b="0">
                <a:solidFill>
                  <a:srgbClr val="2A3358"/>
                </a:solidFill>
                <a:latin typeface="Aptos"/>
              </a:defRPr>
            </a:pPr>
            <a:r>
              <a:t>•  Transport — mode, environment and severity</a:t>
            </a:r>
          </a:p>
          <a:p>
            <a:pPr>
              <a:spcAft>
                <a:spcPts val="500"/>
              </a:spcAft>
              <a:defRPr sz="1400" b="0">
                <a:solidFill>
                  <a:srgbClr val="2A3358"/>
                </a:solidFill>
                <a:latin typeface="Aptos"/>
              </a:defRPr>
            </a:pPr>
            <a:r>
              <a:t>•  Response — response time and outcomes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2FA"/>
        </a:solidFill>
        <a:effectLst/>
      </p:bgPr>
    </p:bg>
    <p:spTree>
      <p:nvGrpSpPr>
        <p:cNvPr id="1" name=""/>
        <p:cNvGrpSpPr/>
        <p:nvPr/>
      </p:nvGrpSpPr>
      <p:grpSpPr/>
      <p:sp>
        <p:nvSpPr>
          <p:cNvPr id="2" name="TextBox 1"/>
          <p:cNvSpPr txBox="1"/>
          <p:nvPr/>
        </p:nvSpPr>
        <p:spPr>
          <a:xfrm>
            <a:off x="502920" y="182880"/>
            <a:ext cx="10972800" cy="228600"/>
          </a:xfrm>
          <a:prstGeom prst="rect">
            <a:avLst/>
          </a:prstGeom>
          <a:noFill/>
        </p:spPr>
        <p:txBody>
          <a:bodyPr wrap="square" lIns="73152" rIns="73152" tIns="36576" anchor="t">
            <a:spAutoFit/>
          </a:bodyPr>
          <a:lstStyle/>
          <a:p>
            <a:pPr>
              <a:spcAft>
                <a:spcPts val="500"/>
              </a:spcAft>
              <a:defRPr sz="1000" b="1">
                <a:solidFill>
                  <a:srgbClr val="1C2C70"/>
                </a:solidFill>
                <a:latin typeface="Aptos"/>
              </a:defRPr>
            </a:pPr>
            <a:r>
              <a:t>DATA  |  INSIGHTS  |  SAFER TOMORROW</a:t>
            </a:r>
          </a:p>
        </p:txBody>
      </p:sp>
      <p:sp>
        <p:nvSpPr>
          <p:cNvPr id="3" name="TextBox 2"/>
          <p:cNvSpPr txBox="1"/>
          <p:nvPr/>
        </p:nvSpPr>
        <p:spPr>
          <a:xfrm>
            <a:off x="502920" y="457200"/>
            <a:ext cx="11155680" cy="502920"/>
          </a:xfrm>
          <a:prstGeom prst="rect">
            <a:avLst/>
          </a:prstGeom>
          <a:noFill/>
        </p:spPr>
        <p:txBody>
          <a:bodyPr wrap="square" lIns="73152" rIns="73152" tIns="36576" anchor="t">
            <a:spAutoFit/>
          </a:bodyPr>
          <a:lstStyle/>
          <a:p>
            <a:pPr>
              <a:spcAft>
                <a:spcPts val="500"/>
              </a:spcAft>
              <a:defRPr sz="2600" b="1">
                <a:solidFill>
                  <a:srgbClr val="237BBE"/>
                </a:solidFill>
                <a:latin typeface="Aptos"/>
              </a:defRPr>
            </a:pPr>
            <a:r>
              <a:t>Problem Statement &amp; Objectives</a:t>
            </a:r>
          </a:p>
        </p:txBody>
      </p:sp>
      <p:sp>
        <p:nvSpPr>
          <p:cNvPr id="4" name="TextBox 3"/>
          <p:cNvSpPr txBox="1"/>
          <p:nvPr/>
        </p:nvSpPr>
        <p:spPr>
          <a:xfrm>
            <a:off x="530352" y="969264"/>
            <a:ext cx="10972800" cy="310896"/>
          </a:xfrm>
          <a:prstGeom prst="rect">
            <a:avLst/>
          </a:prstGeom>
          <a:noFill/>
        </p:spPr>
        <p:txBody>
          <a:bodyPr wrap="square" lIns="73152" rIns="73152" tIns="36576" anchor="t">
            <a:spAutoFit/>
          </a:bodyPr>
          <a:lstStyle/>
          <a:p>
            <a:pPr>
              <a:spcAft>
                <a:spcPts val="500"/>
              </a:spcAft>
              <a:defRPr sz="1300" b="0">
                <a:solidFill>
                  <a:srgbClr val="DE3FA3"/>
                </a:solidFill>
                <a:latin typeface="Aptos"/>
              </a:defRPr>
            </a:pPr>
            <a:r>
              <a:t>A focused analytical view of women’s safety during urban mobility</a:t>
            </a:r>
          </a:p>
        </p:txBody>
      </p:sp>
      <p:sp>
        <p:nvSpPr>
          <p:cNvPr id="5" name="Rectangle 4"/>
          <p:cNvSpPr/>
          <p:nvPr/>
        </p:nvSpPr>
        <p:spPr>
          <a:xfrm>
            <a:off x="502920" y="1335024"/>
            <a:ext cx="11155680" cy="2286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28816"/>
            <a:ext cx="457200" cy="182880"/>
          </a:xfrm>
          <a:prstGeom prst="rect">
            <a:avLst/>
          </a:prstGeom>
          <a:noFill/>
        </p:spPr>
        <p:txBody>
          <a:bodyPr wrap="square" lIns="73152" rIns="73152" tIns="36576" anchor="t">
            <a:spAutoFit/>
          </a:bodyPr>
          <a:lstStyle/>
          <a:p>
            <a:pPr algn="r">
              <a:spcAft>
                <a:spcPts val="500"/>
              </a:spcAft>
              <a:defRPr sz="900" b="1">
                <a:solidFill>
                  <a:srgbClr val="647191"/>
                </a:solidFill>
                <a:latin typeface="Aptos"/>
              </a:defRPr>
            </a:pPr>
            <a:r>
              <a:t>03</a:t>
            </a:r>
          </a:p>
        </p:txBody>
      </p:sp>
      <p:sp>
        <p:nvSpPr>
          <p:cNvPr id="7" name="Rounded Rectangle 6"/>
          <p:cNvSpPr/>
          <p:nvPr/>
        </p:nvSpPr>
        <p:spPr>
          <a:xfrm>
            <a:off x="640080" y="1645920"/>
            <a:ext cx="5349240" cy="18288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45920"/>
            <a:ext cx="64008" cy="182880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1737360"/>
            <a:ext cx="507492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PROBLEM STATEMENT</a:t>
            </a:r>
          </a:p>
        </p:txBody>
      </p:sp>
      <p:sp>
        <p:nvSpPr>
          <p:cNvPr id="10" name="TextBox 9"/>
          <p:cNvSpPr txBox="1"/>
          <p:nvPr/>
        </p:nvSpPr>
        <p:spPr>
          <a:xfrm>
            <a:off x="804671" y="2093976"/>
            <a:ext cx="5074920" cy="1325880"/>
          </a:xfrm>
          <a:prstGeom prst="rect">
            <a:avLst/>
          </a:prstGeom>
          <a:noFill/>
        </p:spPr>
        <p:txBody>
          <a:bodyPr wrap="square" lIns="73152" rIns="73152" tIns="36576" anchor="t">
            <a:spAutoFit/>
          </a:bodyPr>
          <a:lstStyle/>
          <a:p>
            <a:pPr>
              <a:spcAft>
                <a:spcPts val="500"/>
              </a:spcAft>
              <a:defRPr sz="1400" b="0">
                <a:solidFill>
                  <a:srgbClr val="2A3358"/>
                </a:solidFill>
                <a:latin typeface="Aptos"/>
              </a:defRPr>
            </a:pPr>
            <a:r>
              <a:t>Women’s safety during urban travel can vary by location, time, transport mode, environmental conditions and emergency response. SafeMove brings these dimensions into one interactive report to explore reported incidents and safety indicators.</a:t>
            </a:r>
          </a:p>
        </p:txBody>
      </p:sp>
      <p:sp>
        <p:nvSpPr>
          <p:cNvPr id="11" name="Rounded Rectangle 10"/>
          <p:cNvSpPr/>
          <p:nvPr/>
        </p:nvSpPr>
        <p:spPr>
          <a:xfrm>
            <a:off x="6217920" y="1645920"/>
            <a:ext cx="5303520" cy="18288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645920"/>
            <a:ext cx="64008" cy="1828800"/>
          </a:xfrm>
          <a:prstGeom prst="rect">
            <a:avLst/>
          </a:prstGeom>
          <a:solidFill>
            <a:srgbClr val="237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737360"/>
            <a:ext cx="502920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PROJECT OBJECTIVE</a:t>
            </a:r>
          </a:p>
        </p:txBody>
      </p:sp>
      <p:sp>
        <p:nvSpPr>
          <p:cNvPr id="14" name="TextBox 13"/>
          <p:cNvSpPr txBox="1"/>
          <p:nvPr/>
        </p:nvSpPr>
        <p:spPr>
          <a:xfrm>
            <a:off x="6382512" y="2093976"/>
            <a:ext cx="5029200" cy="1325880"/>
          </a:xfrm>
          <a:prstGeom prst="rect">
            <a:avLst/>
          </a:prstGeom>
          <a:noFill/>
        </p:spPr>
        <p:txBody>
          <a:bodyPr wrap="square" lIns="73152" rIns="73152" tIns="36576" anchor="t">
            <a:spAutoFit/>
          </a:bodyPr>
          <a:lstStyle/>
          <a:p>
            <a:pPr>
              <a:spcAft>
                <a:spcPts val="500"/>
              </a:spcAft>
              <a:defRPr sz="1400" b="0">
                <a:solidFill>
                  <a:srgbClr val="2A3358"/>
                </a:solidFill>
                <a:latin typeface="Aptos"/>
              </a:defRPr>
            </a:pPr>
            <a:r>
              <a:t>Develop a Power BI analytics dashboard to examine safety-related patterns, compare risk indicators across areas and transport modes, and review emergency response performance.</a:t>
            </a:r>
          </a:p>
        </p:txBody>
      </p:sp>
      <p:sp>
        <p:nvSpPr>
          <p:cNvPr id="15" name="TextBox 14"/>
          <p:cNvSpPr txBox="1"/>
          <p:nvPr/>
        </p:nvSpPr>
        <p:spPr>
          <a:xfrm>
            <a:off x="731520" y="3840480"/>
            <a:ext cx="5029200" cy="320040"/>
          </a:xfrm>
          <a:prstGeom prst="rect">
            <a:avLst/>
          </a:prstGeom>
          <a:noFill/>
        </p:spPr>
        <p:txBody>
          <a:bodyPr wrap="square" lIns="73152" rIns="73152" tIns="36576" anchor="t">
            <a:spAutoFit/>
          </a:bodyPr>
          <a:lstStyle/>
          <a:p>
            <a:pPr>
              <a:spcAft>
                <a:spcPts val="500"/>
              </a:spcAft>
              <a:defRPr sz="1700" b="1">
                <a:solidFill>
                  <a:srgbClr val="1C2C70"/>
                </a:solidFill>
                <a:latin typeface="Aptos"/>
              </a:defRPr>
            </a:pPr>
            <a:r>
              <a:t>KEY QUESTIONS</a:t>
            </a:r>
          </a:p>
        </p:txBody>
      </p:sp>
      <p:sp>
        <p:nvSpPr>
          <p:cNvPr id="16" name="TextBox 15"/>
          <p:cNvSpPr txBox="1"/>
          <p:nvPr/>
        </p:nvSpPr>
        <p:spPr>
          <a:xfrm>
            <a:off x="777240" y="4251960"/>
            <a:ext cx="10789920" cy="1737360"/>
          </a:xfrm>
          <a:prstGeom prst="rect">
            <a:avLst/>
          </a:prstGeom>
          <a:noFill/>
        </p:spPr>
        <p:txBody>
          <a:bodyPr wrap="square" lIns="73152" rIns="73152" tIns="36576" anchor="t">
            <a:spAutoFit/>
          </a:bodyPr>
          <a:lstStyle/>
          <a:p>
            <a:pPr>
              <a:spcAft>
                <a:spcPts val="500"/>
              </a:spcAft>
              <a:defRPr sz="1400" b="0">
                <a:solidFill>
                  <a:srgbClr val="2A3358"/>
                </a:solidFill>
                <a:latin typeface="Aptos"/>
              </a:defRPr>
            </a:pPr>
            <a:r>
              <a:t>•  Which areas and time periods show higher incident counts or risk indicators?</a:t>
            </a:r>
          </a:p>
          <a:p>
            <a:pPr>
              <a:spcAft>
                <a:spcPts val="500"/>
              </a:spcAft>
              <a:defRPr sz="1400" b="0">
                <a:solidFill>
                  <a:srgbClr val="2A3358"/>
                </a:solidFill>
                <a:latin typeface="Aptos"/>
              </a:defRPr>
            </a:pPr>
            <a:r>
              <a:t>•  How do transport modes, severity and environmental scores compare?</a:t>
            </a:r>
          </a:p>
          <a:p>
            <a:pPr>
              <a:spcAft>
                <a:spcPts val="500"/>
              </a:spcAft>
              <a:defRPr sz="1400" b="0">
                <a:solidFill>
                  <a:srgbClr val="2A3358"/>
                </a:solidFill>
                <a:latin typeface="Aptos"/>
              </a:defRPr>
            </a:pPr>
            <a:r>
              <a:t>•  What do response-time and case-resolution visuals show in the current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972800" cy="228600"/>
          </a:xfrm>
          <a:prstGeom prst="rect">
            <a:avLst/>
          </a:prstGeom>
          <a:noFill/>
        </p:spPr>
        <p:txBody>
          <a:bodyPr wrap="square" lIns="73152" rIns="73152" tIns="36576" anchor="t">
            <a:spAutoFit/>
          </a:bodyPr>
          <a:lstStyle/>
          <a:p>
            <a:pPr>
              <a:spcAft>
                <a:spcPts val="500"/>
              </a:spcAft>
              <a:defRPr sz="1000" b="1">
                <a:solidFill>
                  <a:srgbClr val="1C2C70"/>
                </a:solidFill>
                <a:latin typeface="Aptos"/>
              </a:defRPr>
            </a:pPr>
            <a:r>
              <a:t>DATA  |  INSIGHTS  |  SAFER TOMORROW</a:t>
            </a:r>
          </a:p>
        </p:txBody>
      </p:sp>
      <p:sp>
        <p:nvSpPr>
          <p:cNvPr id="3" name="TextBox 2"/>
          <p:cNvSpPr txBox="1"/>
          <p:nvPr/>
        </p:nvSpPr>
        <p:spPr>
          <a:xfrm>
            <a:off x="502920" y="457200"/>
            <a:ext cx="11155680" cy="502920"/>
          </a:xfrm>
          <a:prstGeom prst="rect">
            <a:avLst/>
          </a:prstGeom>
          <a:noFill/>
        </p:spPr>
        <p:txBody>
          <a:bodyPr wrap="square" lIns="73152" rIns="73152" tIns="36576" anchor="t">
            <a:spAutoFit/>
          </a:bodyPr>
          <a:lstStyle/>
          <a:p>
            <a:pPr>
              <a:spcAft>
                <a:spcPts val="500"/>
              </a:spcAft>
              <a:defRPr sz="2600" b="1">
                <a:solidFill>
                  <a:srgbClr val="237BBE"/>
                </a:solidFill>
                <a:latin typeface="Aptos"/>
              </a:defRPr>
            </a:pPr>
            <a:r>
              <a:t>Data Preparation &amp; Analytical Method</a:t>
            </a:r>
          </a:p>
        </p:txBody>
      </p:sp>
      <p:sp>
        <p:nvSpPr>
          <p:cNvPr id="4" name="TextBox 3"/>
          <p:cNvSpPr txBox="1"/>
          <p:nvPr/>
        </p:nvSpPr>
        <p:spPr>
          <a:xfrm>
            <a:off x="530352" y="969264"/>
            <a:ext cx="10972800" cy="310896"/>
          </a:xfrm>
          <a:prstGeom prst="rect">
            <a:avLst/>
          </a:prstGeom>
          <a:noFill/>
        </p:spPr>
        <p:txBody>
          <a:bodyPr wrap="square" lIns="73152" rIns="73152" tIns="36576" anchor="t">
            <a:spAutoFit/>
          </a:bodyPr>
          <a:lstStyle/>
          <a:p>
            <a:pPr>
              <a:spcAft>
                <a:spcPts val="500"/>
              </a:spcAft>
              <a:defRPr sz="1300" b="0">
                <a:solidFill>
                  <a:srgbClr val="DE3FA3"/>
                </a:solidFill>
                <a:latin typeface="Aptos"/>
              </a:defRPr>
            </a:pPr>
            <a:r>
              <a:t>A structured workflow for building a report-ready analytical model</a:t>
            </a:r>
          </a:p>
        </p:txBody>
      </p:sp>
      <p:sp>
        <p:nvSpPr>
          <p:cNvPr id="5" name="Rectangle 4"/>
          <p:cNvSpPr/>
          <p:nvPr/>
        </p:nvSpPr>
        <p:spPr>
          <a:xfrm>
            <a:off x="502920" y="1335024"/>
            <a:ext cx="11155680" cy="2286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28816"/>
            <a:ext cx="457200" cy="182880"/>
          </a:xfrm>
          <a:prstGeom prst="rect">
            <a:avLst/>
          </a:prstGeom>
          <a:noFill/>
        </p:spPr>
        <p:txBody>
          <a:bodyPr wrap="square" lIns="73152" rIns="73152" tIns="36576" anchor="t">
            <a:spAutoFit/>
          </a:bodyPr>
          <a:lstStyle/>
          <a:p>
            <a:pPr algn="r">
              <a:spcAft>
                <a:spcPts val="500"/>
              </a:spcAft>
              <a:defRPr sz="900" b="1">
                <a:solidFill>
                  <a:srgbClr val="647191"/>
                </a:solidFill>
                <a:latin typeface="Aptos"/>
              </a:defRPr>
            </a:pPr>
            <a:r>
              <a:t>04</a:t>
            </a:r>
          </a:p>
        </p:txBody>
      </p:sp>
      <p:sp>
        <p:nvSpPr>
          <p:cNvPr id="7" name="Rounded Rectangle 6"/>
          <p:cNvSpPr/>
          <p:nvPr/>
        </p:nvSpPr>
        <p:spPr>
          <a:xfrm>
            <a:off x="685800" y="1645920"/>
            <a:ext cx="5212080" cy="109728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645920"/>
            <a:ext cx="64008" cy="109728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737360"/>
            <a:ext cx="493776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01  SOURCE REVIEW</a:t>
            </a:r>
          </a:p>
        </p:txBody>
      </p:sp>
      <p:sp>
        <p:nvSpPr>
          <p:cNvPr id="10" name="TextBox 9"/>
          <p:cNvSpPr txBox="1"/>
          <p:nvPr/>
        </p:nvSpPr>
        <p:spPr>
          <a:xfrm>
            <a:off x="850392" y="2093976"/>
            <a:ext cx="4937760" cy="594359"/>
          </a:xfrm>
          <a:prstGeom prst="rect">
            <a:avLst/>
          </a:prstGeom>
          <a:noFill/>
        </p:spPr>
        <p:txBody>
          <a:bodyPr wrap="square" lIns="73152" rIns="73152" tIns="36576" anchor="t">
            <a:spAutoFit/>
          </a:bodyPr>
          <a:lstStyle/>
          <a:p>
            <a:pPr>
              <a:spcAft>
                <a:spcPts val="500"/>
              </a:spcAft>
              <a:defRPr sz="1300" b="0">
                <a:solidFill>
                  <a:srgbClr val="2A3358"/>
                </a:solidFill>
                <a:latin typeface="Aptos"/>
              </a:defRPr>
            </a:pPr>
            <a:r>
              <a:t>Reviewed incident fields, categories and numerical indicators.</a:t>
            </a:r>
          </a:p>
        </p:txBody>
      </p:sp>
      <p:sp>
        <p:nvSpPr>
          <p:cNvPr id="11" name="Rounded Rectangle 10"/>
          <p:cNvSpPr/>
          <p:nvPr/>
        </p:nvSpPr>
        <p:spPr>
          <a:xfrm>
            <a:off x="6263640" y="1645920"/>
            <a:ext cx="5212080" cy="109728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645920"/>
            <a:ext cx="64008" cy="1097280"/>
          </a:xfrm>
          <a:prstGeom prst="rect">
            <a:avLst/>
          </a:prstGeom>
          <a:solidFill>
            <a:srgbClr val="237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1" y="1737360"/>
            <a:ext cx="493776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02  DATA PREPARATION</a:t>
            </a:r>
          </a:p>
        </p:txBody>
      </p:sp>
      <p:sp>
        <p:nvSpPr>
          <p:cNvPr id="14" name="TextBox 13"/>
          <p:cNvSpPr txBox="1"/>
          <p:nvPr/>
        </p:nvSpPr>
        <p:spPr>
          <a:xfrm>
            <a:off x="6428231" y="2093976"/>
            <a:ext cx="4937760" cy="594359"/>
          </a:xfrm>
          <a:prstGeom prst="rect">
            <a:avLst/>
          </a:prstGeom>
          <a:noFill/>
        </p:spPr>
        <p:txBody>
          <a:bodyPr wrap="square" lIns="73152" rIns="73152" tIns="36576" anchor="t">
            <a:spAutoFit/>
          </a:bodyPr>
          <a:lstStyle/>
          <a:p>
            <a:pPr>
              <a:spcAft>
                <a:spcPts val="500"/>
              </a:spcAft>
              <a:defRPr sz="1300" b="0">
                <a:solidFill>
                  <a:srgbClr val="2A3358"/>
                </a:solidFill>
                <a:latin typeface="Aptos"/>
              </a:defRPr>
            </a:pPr>
            <a:r>
              <a:t>Prepared fields and data types for analysis in Power Query.</a:t>
            </a:r>
          </a:p>
        </p:txBody>
      </p:sp>
      <p:sp>
        <p:nvSpPr>
          <p:cNvPr id="15" name="Rounded Rectangle 14"/>
          <p:cNvSpPr/>
          <p:nvPr/>
        </p:nvSpPr>
        <p:spPr>
          <a:xfrm>
            <a:off x="685800" y="3063240"/>
            <a:ext cx="5212080" cy="109728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063240"/>
            <a:ext cx="64008" cy="1097280"/>
          </a:xfrm>
          <a:prstGeom prst="rect">
            <a:avLst/>
          </a:prstGeom>
          <a:solidFill>
            <a:srgbClr val="38B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154680"/>
            <a:ext cx="493776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03  DATE MODELING</a:t>
            </a:r>
          </a:p>
        </p:txBody>
      </p:sp>
      <p:sp>
        <p:nvSpPr>
          <p:cNvPr id="18" name="TextBox 17"/>
          <p:cNvSpPr txBox="1"/>
          <p:nvPr/>
        </p:nvSpPr>
        <p:spPr>
          <a:xfrm>
            <a:off x="850392" y="3511296"/>
            <a:ext cx="4937760" cy="594359"/>
          </a:xfrm>
          <a:prstGeom prst="rect">
            <a:avLst/>
          </a:prstGeom>
          <a:noFill/>
        </p:spPr>
        <p:txBody>
          <a:bodyPr wrap="square" lIns="73152" rIns="73152" tIns="36576" anchor="t">
            <a:spAutoFit/>
          </a:bodyPr>
          <a:lstStyle/>
          <a:p>
            <a:pPr>
              <a:spcAft>
                <a:spcPts val="500"/>
              </a:spcAft>
              <a:defRPr sz="1300" b="0">
                <a:solidFill>
                  <a:srgbClr val="2A3358"/>
                </a:solidFill>
                <a:latin typeface="Aptos"/>
              </a:defRPr>
            </a:pPr>
            <a:r>
              <a:t>Created a DateTable and connected it to the incident table.</a:t>
            </a:r>
          </a:p>
        </p:txBody>
      </p:sp>
      <p:sp>
        <p:nvSpPr>
          <p:cNvPr id="19" name="Rounded Rectangle 18"/>
          <p:cNvSpPr/>
          <p:nvPr/>
        </p:nvSpPr>
        <p:spPr>
          <a:xfrm>
            <a:off x="6263640" y="3063240"/>
            <a:ext cx="5212080" cy="109728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3063240"/>
            <a:ext cx="64008" cy="109728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1" y="3154680"/>
            <a:ext cx="493776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04  DAX MEASURES</a:t>
            </a:r>
          </a:p>
        </p:txBody>
      </p:sp>
      <p:sp>
        <p:nvSpPr>
          <p:cNvPr id="22" name="TextBox 21"/>
          <p:cNvSpPr txBox="1"/>
          <p:nvPr/>
        </p:nvSpPr>
        <p:spPr>
          <a:xfrm>
            <a:off x="6428231" y="3511296"/>
            <a:ext cx="4937760" cy="594359"/>
          </a:xfrm>
          <a:prstGeom prst="rect">
            <a:avLst/>
          </a:prstGeom>
          <a:noFill/>
        </p:spPr>
        <p:txBody>
          <a:bodyPr wrap="square" lIns="73152" rIns="73152" tIns="36576" anchor="t">
            <a:spAutoFit/>
          </a:bodyPr>
          <a:lstStyle/>
          <a:p>
            <a:pPr>
              <a:spcAft>
                <a:spcPts val="500"/>
              </a:spcAft>
              <a:defRPr sz="1300" b="0">
                <a:solidFill>
                  <a:srgbClr val="2A3358"/>
                </a:solidFill>
                <a:latin typeface="Aptos"/>
              </a:defRPr>
            </a:pPr>
            <a:r>
              <a:t>Built measures for incident counts, safety index, risk percentages and response time.</a:t>
            </a:r>
          </a:p>
        </p:txBody>
      </p:sp>
      <p:sp>
        <p:nvSpPr>
          <p:cNvPr id="23" name="Rounded Rectangle 22"/>
          <p:cNvSpPr/>
          <p:nvPr/>
        </p:nvSpPr>
        <p:spPr>
          <a:xfrm>
            <a:off x="3474720" y="4480560"/>
            <a:ext cx="5212080" cy="109728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74720" y="4480560"/>
            <a:ext cx="64008" cy="1097280"/>
          </a:xfrm>
          <a:prstGeom prst="rect">
            <a:avLst/>
          </a:prstGeom>
          <a:solidFill>
            <a:srgbClr val="237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39312" y="4572000"/>
            <a:ext cx="493776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05  VISUAL VALIDATION</a:t>
            </a:r>
          </a:p>
        </p:txBody>
      </p:sp>
      <p:sp>
        <p:nvSpPr>
          <p:cNvPr id="26" name="TextBox 25"/>
          <p:cNvSpPr txBox="1"/>
          <p:nvPr/>
        </p:nvSpPr>
        <p:spPr>
          <a:xfrm>
            <a:off x="3639312" y="4928616"/>
            <a:ext cx="4937760" cy="594359"/>
          </a:xfrm>
          <a:prstGeom prst="rect">
            <a:avLst/>
          </a:prstGeom>
          <a:noFill/>
        </p:spPr>
        <p:txBody>
          <a:bodyPr wrap="square" lIns="73152" rIns="73152" tIns="36576" anchor="t">
            <a:spAutoFit/>
          </a:bodyPr>
          <a:lstStyle/>
          <a:p>
            <a:pPr>
              <a:spcAft>
                <a:spcPts val="500"/>
              </a:spcAft>
              <a:defRPr sz="1300" b="0">
                <a:solidFill>
                  <a:srgbClr val="2A3358"/>
                </a:solidFill>
                <a:latin typeface="Aptos"/>
              </a:defRPr>
            </a:pPr>
            <a:r>
              <a:t>Presented results through KPIs, charts, tables, slicers and navigation.</a:t>
            </a:r>
          </a:p>
        </p:txBody>
      </p:sp>
      <p:sp>
        <p:nvSpPr>
          <p:cNvPr id="27" name="TextBox 26"/>
          <p:cNvSpPr txBox="1"/>
          <p:nvPr/>
        </p:nvSpPr>
        <p:spPr>
          <a:xfrm>
            <a:off x="822960" y="5897880"/>
            <a:ext cx="10515600" cy="274320"/>
          </a:xfrm>
          <a:prstGeom prst="rect">
            <a:avLst/>
          </a:prstGeom>
          <a:noFill/>
        </p:spPr>
        <p:txBody>
          <a:bodyPr wrap="square" lIns="73152" rIns="73152" tIns="36576" anchor="t">
            <a:spAutoFit/>
          </a:bodyPr>
          <a:lstStyle/>
          <a:p>
            <a:pPr>
              <a:spcAft>
                <a:spcPts val="500"/>
              </a:spcAft>
              <a:defRPr sz="1100" b="0">
                <a:solidFill>
                  <a:srgbClr val="647191"/>
                </a:solidFill>
                <a:latin typeface="Aptos"/>
              </a:defRPr>
            </a:pPr>
            <a:r>
              <a:t>Principle: consistent measures and interactive filters make comparisons easier to explore.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2FA"/>
        </a:solidFill>
        <a:effectLst/>
      </p:bgPr>
    </p:bg>
    <p:spTree>
      <p:nvGrpSpPr>
        <p:cNvPr id="1" name=""/>
        <p:cNvGrpSpPr/>
        <p:nvPr/>
      </p:nvGrpSpPr>
      <p:grpSpPr/>
      <p:sp>
        <p:nvSpPr>
          <p:cNvPr id="2" name="TextBox 1"/>
          <p:cNvSpPr txBox="1"/>
          <p:nvPr/>
        </p:nvSpPr>
        <p:spPr>
          <a:xfrm>
            <a:off x="502920" y="182880"/>
            <a:ext cx="10972800" cy="228600"/>
          </a:xfrm>
          <a:prstGeom prst="rect">
            <a:avLst/>
          </a:prstGeom>
          <a:noFill/>
        </p:spPr>
        <p:txBody>
          <a:bodyPr wrap="square" lIns="73152" rIns="73152" tIns="36576" anchor="t">
            <a:spAutoFit/>
          </a:bodyPr>
          <a:lstStyle/>
          <a:p>
            <a:pPr>
              <a:spcAft>
                <a:spcPts val="500"/>
              </a:spcAft>
              <a:defRPr sz="1000" b="1">
                <a:solidFill>
                  <a:srgbClr val="1C2C70"/>
                </a:solidFill>
                <a:latin typeface="Aptos"/>
              </a:defRPr>
            </a:pPr>
            <a:r>
              <a:t>DATA  |  INSIGHTS  |  SAFER TOMORROW</a:t>
            </a:r>
          </a:p>
        </p:txBody>
      </p:sp>
      <p:sp>
        <p:nvSpPr>
          <p:cNvPr id="3" name="TextBox 2"/>
          <p:cNvSpPr txBox="1"/>
          <p:nvPr/>
        </p:nvSpPr>
        <p:spPr>
          <a:xfrm>
            <a:off x="502920" y="457200"/>
            <a:ext cx="11155680" cy="502920"/>
          </a:xfrm>
          <a:prstGeom prst="rect">
            <a:avLst/>
          </a:prstGeom>
          <a:noFill/>
        </p:spPr>
        <p:txBody>
          <a:bodyPr wrap="square" lIns="73152" rIns="73152" tIns="36576" anchor="t">
            <a:spAutoFit/>
          </a:bodyPr>
          <a:lstStyle/>
          <a:p>
            <a:pPr>
              <a:spcAft>
                <a:spcPts val="500"/>
              </a:spcAft>
              <a:defRPr sz="2600" b="1">
                <a:solidFill>
                  <a:srgbClr val="237BBE"/>
                </a:solidFill>
                <a:latin typeface="Aptos"/>
              </a:defRPr>
            </a:pPr>
            <a:r>
              <a:t>Dashboard Architecture</a:t>
            </a:r>
          </a:p>
        </p:txBody>
      </p:sp>
      <p:sp>
        <p:nvSpPr>
          <p:cNvPr id="4" name="TextBox 3"/>
          <p:cNvSpPr txBox="1"/>
          <p:nvPr/>
        </p:nvSpPr>
        <p:spPr>
          <a:xfrm>
            <a:off x="530352" y="969264"/>
            <a:ext cx="10972800" cy="310896"/>
          </a:xfrm>
          <a:prstGeom prst="rect">
            <a:avLst/>
          </a:prstGeom>
          <a:noFill/>
        </p:spPr>
        <p:txBody>
          <a:bodyPr wrap="square" lIns="73152" rIns="73152" tIns="36576" anchor="t">
            <a:spAutoFit/>
          </a:bodyPr>
          <a:lstStyle/>
          <a:p>
            <a:pPr>
              <a:spcAft>
                <a:spcPts val="500"/>
              </a:spcAft>
              <a:defRPr sz="1300" b="0">
                <a:solidFill>
                  <a:srgbClr val="DE3FA3"/>
                </a:solidFill>
                <a:latin typeface="Aptos"/>
              </a:defRPr>
            </a:pPr>
            <a:r>
              <a:t>Four connected analytical pages create a guided report experience</a:t>
            </a:r>
          </a:p>
        </p:txBody>
      </p:sp>
      <p:sp>
        <p:nvSpPr>
          <p:cNvPr id="5" name="Rectangle 4"/>
          <p:cNvSpPr/>
          <p:nvPr/>
        </p:nvSpPr>
        <p:spPr>
          <a:xfrm>
            <a:off x="502920" y="1335024"/>
            <a:ext cx="11155680" cy="2286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28816"/>
            <a:ext cx="457200" cy="182880"/>
          </a:xfrm>
          <a:prstGeom prst="rect">
            <a:avLst/>
          </a:prstGeom>
          <a:noFill/>
        </p:spPr>
        <p:txBody>
          <a:bodyPr wrap="square" lIns="73152" rIns="73152" tIns="36576" anchor="t">
            <a:spAutoFit/>
          </a:bodyPr>
          <a:lstStyle/>
          <a:p>
            <a:pPr algn="r">
              <a:spcAft>
                <a:spcPts val="500"/>
              </a:spcAft>
              <a:defRPr sz="900" b="1">
                <a:solidFill>
                  <a:srgbClr val="647191"/>
                </a:solidFill>
                <a:latin typeface="Aptos"/>
              </a:defRPr>
            </a:pPr>
            <a:r>
              <a:t>05</a:t>
            </a:r>
          </a:p>
        </p:txBody>
      </p:sp>
      <p:sp>
        <p:nvSpPr>
          <p:cNvPr id="7" name="Rounded Rectangle 6"/>
          <p:cNvSpPr/>
          <p:nvPr/>
        </p:nvSpPr>
        <p:spPr>
          <a:xfrm>
            <a:off x="640080" y="2057400"/>
            <a:ext cx="2560320" cy="164592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57400"/>
            <a:ext cx="64008" cy="164592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148840"/>
            <a:ext cx="228600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OVERVIEW</a:t>
            </a:r>
          </a:p>
        </p:txBody>
      </p:sp>
      <p:sp>
        <p:nvSpPr>
          <p:cNvPr id="10" name="TextBox 9"/>
          <p:cNvSpPr txBox="1"/>
          <p:nvPr/>
        </p:nvSpPr>
        <p:spPr>
          <a:xfrm>
            <a:off x="804671" y="2505456"/>
            <a:ext cx="2286000" cy="1143000"/>
          </a:xfrm>
          <a:prstGeom prst="rect">
            <a:avLst/>
          </a:prstGeom>
          <a:noFill/>
        </p:spPr>
        <p:txBody>
          <a:bodyPr wrap="square" lIns="73152" rIns="73152" tIns="36576" anchor="t">
            <a:spAutoFit/>
          </a:bodyPr>
          <a:lstStyle/>
          <a:p>
            <a:pPr>
              <a:spcAft>
                <a:spcPts val="500"/>
              </a:spcAft>
              <a:defRPr sz="1400" b="0">
                <a:solidFill>
                  <a:srgbClr val="2A3358"/>
                </a:solidFill>
                <a:latin typeface="Aptos"/>
              </a:defRPr>
            </a:pPr>
            <a:r>
              <a:t>Executive KPIs and trends</a:t>
            </a:r>
          </a:p>
        </p:txBody>
      </p:sp>
      <p:sp>
        <p:nvSpPr>
          <p:cNvPr id="11" name="TextBox 10"/>
          <p:cNvSpPr txBox="1"/>
          <p:nvPr/>
        </p:nvSpPr>
        <p:spPr>
          <a:xfrm>
            <a:off x="3200400" y="2651760"/>
            <a:ext cx="274320" cy="320040"/>
          </a:xfrm>
          <a:prstGeom prst="rect">
            <a:avLst/>
          </a:prstGeom>
          <a:noFill/>
        </p:spPr>
        <p:txBody>
          <a:bodyPr wrap="square" lIns="73152" rIns="73152" tIns="36576" anchor="t">
            <a:spAutoFit/>
          </a:bodyPr>
          <a:lstStyle/>
          <a:p>
            <a:pPr algn="ctr">
              <a:spcAft>
                <a:spcPts val="500"/>
              </a:spcAft>
              <a:defRPr sz="2100" b="1">
                <a:solidFill>
                  <a:srgbClr val="38B7CC"/>
                </a:solidFill>
                <a:latin typeface="Aptos"/>
              </a:defRPr>
            </a:pPr>
            <a:r>
              <a:t>→</a:t>
            </a:r>
          </a:p>
        </p:txBody>
      </p:sp>
      <p:sp>
        <p:nvSpPr>
          <p:cNvPr id="12" name="Rounded Rectangle 11"/>
          <p:cNvSpPr/>
          <p:nvPr/>
        </p:nvSpPr>
        <p:spPr>
          <a:xfrm>
            <a:off x="3520439" y="2057400"/>
            <a:ext cx="2560320" cy="164592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39" y="2057400"/>
            <a:ext cx="64008" cy="1645920"/>
          </a:xfrm>
          <a:prstGeom prst="rect">
            <a:avLst/>
          </a:prstGeom>
          <a:solidFill>
            <a:srgbClr val="237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85031" y="2148840"/>
            <a:ext cx="228600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HOTSPOTS</a:t>
            </a:r>
          </a:p>
        </p:txBody>
      </p:sp>
      <p:sp>
        <p:nvSpPr>
          <p:cNvPr id="15" name="TextBox 14"/>
          <p:cNvSpPr txBox="1"/>
          <p:nvPr/>
        </p:nvSpPr>
        <p:spPr>
          <a:xfrm>
            <a:off x="3685031" y="2505456"/>
            <a:ext cx="2286000" cy="1143000"/>
          </a:xfrm>
          <a:prstGeom prst="rect">
            <a:avLst/>
          </a:prstGeom>
          <a:noFill/>
        </p:spPr>
        <p:txBody>
          <a:bodyPr wrap="square" lIns="73152" rIns="73152" tIns="36576" anchor="t">
            <a:spAutoFit/>
          </a:bodyPr>
          <a:lstStyle/>
          <a:p>
            <a:pPr>
              <a:spcAft>
                <a:spcPts val="500"/>
              </a:spcAft>
              <a:defRPr sz="1400" b="0">
                <a:solidFill>
                  <a:srgbClr val="2A3358"/>
                </a:solidFill>
                <a:latin typeface="Aptos"/>
              </a:defRPr>
            </a:pPr>
            <a:r>
              <a:t>Area and time patterns</a:t>
            </a:r>
          </a:p>
        </p:txBody>
      </p:sp>
      <p:sp>
        <p:nvSpPr>
          <p:cNvPr id="16" name="TextBox 15"/>
          <p:cNvSpPr txBox="1"/>
          <p:nvPr/>
        </p:nvSpPr>
        <p:spPr>
          <a:xfrm>
            <a:off x="6080759" y="2651760"/>
            <a:ext cx="274320" cy="320040"/>
          </a:xfrm>
          <a:prstGeom prst="rect">
            <a:avLst/>
          </a:prstGeom>
          <a:noFill/>
        </p:spPr>
        <p:txBody>
          <a:bodyPr wrap="square" lIns="73152" rIns="73152" tIns="36576" anchor="t">
            <a:spAutoFit/>
          </a:bodyPr>
          <a:lstStyle/>
          <a:p>
            <a:pPr algn="ctr">
              <a:spcAft>
                <a:spcPts val="500"/>
              </a:spcAft>
              <a:defRPr sz="2100" b="1">
                <a:solidFill>
                  <a:srgbClr val="38B7CC"/>
                </a:solidFill>
                <a:latin typeface="Aptos"/>
              </a:defRPr>
            </a:pPr>
            <a:r>
              <a:t>→</a:t>
            </a:r>
          </a:p>
        </p:txBody>
      </p:sp>
      <p:sp>
        <p:nvSpPr>
          <p:cNvPr id="17" name="Rounded Rectangle 16"/>
          <p:cNvSpPr/>
          <p:nvPr/>
        </p:nvSpPr>
        <p:spPr>
          <a:xfrm>
            <a:off x="6400800" y="2057400"/>
            <a:ext cx="2560320" cy="164592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2057400"/>
            <a:ext cx="64008" cy="164592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148840"/>
            <a:ext cx="228600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TRANSPORT</a:t>
            </a:r>
          </a:p>
        </p:txBody>
      </p:sp>
      <p:sp>
        <p:nvSpPr>
          <p:cNvPr id="20" name="TextBox 19"/>
          <p:cNvSpPr txBox="1"/>
          <p:nvPr/>
        </p:nvSpPr>
        <p:spPr>
          <a:xfrm>
            <a:off x="6565392" y="2505456"/>
            <a:ext cx="2286000" cy="1143000"/>
          </a:xfrm>
          <a:prstGeom prst="rect">
            <a:avLst/>
          </a:prstGeom>
          <a:noFill/>
        </p:spPr>
        <p:txBody>
          <a:bodyPr wrap="square" lIns="73152" rIns="73152" tIns="36576" anchor="t">
            <a:spAutoFit/>
          </a:bodyPr>
          <a:lstStyle/>
          <a:p>
            <a:pPr>
              <a:spcAft>
                <a:spcPts val="500"/>
              </a:spcAft>
              <a:defRPr sz="1400" b="0">
                <a:solidFill>
                  <a:srgbClr val="2A3358"/>
                </a:solidFill>
                <a:latin typeface="Aptos"/>
              </a:defRPr>
            </a:pPr>
            <a:r>
              <a:t>Mode, environment and severity</a:t>
            </a:r>
          </a:p>
        </p:txBody>
      </p:sp>
      <p:sp>
        <p:nvSpPr>
          <p:cNvPr id="21" name="TextBox 20"/>
          <p:cNvSpPr txBox="1"/>
          <p:nvPr/>
        </p:nvSpPr>
        <p:spPr>
          <a:xfrm>
            <a:off x="8961120" y="2651760"/>
            <a:ext cx="274320" cy="320040"/>
          </a:xfrm>
          <a:prstGeom prst="rect">
            <a:avLst/>
          </a:prstGeom>
          <a:noFill/>
        </p:spPr>
        <p:txBody>
          <a:bodyPr wrap="square" lIns="73152" rIns="73152" tIns="36576" anchor="t">
            <a:spAutoFit/>
          </a:bodyPr>
          <a:lstStyle/>
          <a:p>
            <a:pPr algn="ctr">
              <a:spcAft>
                <a:spcPts val="500"/>
              </a:spcAft>
              <a:defRPr sz="2100" b="1">
                <a:solidFill>
                  <a:srgbClr val="38B7CC"/>
                </a:solidFill>
                <a:latin typeface="Aptos"/>
              </a:defRPr>
            </a:pPr>
            <a:r>
              <a:t>→</a:t>
            </a:r>
          </a:p>
        </p:txBody>
      </p:sp>
      <p:sp>
        <p:nvSpPr>
          <p:cNvPr id="22" name="Rounded Rectangle 21"/>
          <p:cNvSpPr/>
          <p:nvPr/>
        </p:nvSpPr>
        <p:spPr>
          <a:xfrm>
            <a:off x="9281159" y="2057400"/>
            <a:ext cx="2560320" cy="164592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81159" y="2057400"/>
            <a:ext cx="64008" cy="1645920"/>
          </a:xfrm>
          <a:prstGeom prst="rect">
            <a:avLst/>
          </a:prstGeom>
          <a:solidFill>
            <a:srgbClr val="237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45751" y="2148840"/>
            <a:ext cx="228600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RESPONSE</a:t>
            </a:r>
          </a:p>
        </p:txBody>
      </p:sp>
      <p:sp>
        <p:nvSpPr>
          <p:cNvPr id="25" name="TextBox 24"/>
          <p:cNvSpPr txBox="1"/>
          <p:nvPr/>
        </p:nvSpPr>
        <p:spPr>
          <a:xfrm>
            <a:off x="9445751" y="2505456"/>
            <a:ext cx="2286000" cy="1143000"/>
          </a:xfrm>
          <a:prstGeom prst="rect">
            <a:avLst/>
          </a:prstGeom>
          <a:noFill/>
        </p:spPr>
        <p:txBody>
          <a:bodyPr wrap="square" lIns="73152" rIns="73152" tIns="36576" anchor="t">
            <a:spAutoFit/>
          </a:bodyPr>
          <a:lstStyle/>
          <a:p>
            <a:pPr>
              <a:spcAft>
                <a:spcPts val="500"/>
              </a:spcAft>
              <a:defRPr sz="1400" b="0">
                <a:solidFill>
                  <a:srgbClr val="2A3358"/>
                </a:solidFill>
                <a:latin typeface="Aptos"/>
              </a:defRPr>
            </a:pPr>
            <a:r>
              <a:t>Response and outcomes</a:t>
            </a:r>
          </a:p>
        </p:txBody>
      </p:sp>
      <p:sp>
        <p:nvSpPr>
          <p:cNvPr id="26" name="TextBox 25"/>
          <p:cNvSpPr txBox="1"/>
          <p:nvPr/>
        </p:nvSpPr>
        <p:spPr>
          <a:xfrm>
            <a:off x="914400" y="4389120"/>
            <a:ext cx="10332720" cy="502920"/>
          </a:xfrm>
          <a:prstGeom prst="rect">
            <a:avLst/>
          </a:prstGeom>
          <a:noFill/>
        </p:spPr>
        <p:txBody>
          <a:bodyPr wrap="square" lIns="73152" rIns="73152" tIns="36576" anchor="t">
            <a:spAutoFit/>
          </a:bodyPr>
          <a:lstStyle/>
          <a:p>
            <a:pPr algn="ctr">
              <a:spcAft>
                <a:spcPts val="500"/>
              </a:spcAft>
              <a:defRPr sz="1800" b="1">
                <a:solidFill>
                  <a:srgbClr val="1C2C70"/>
                </a:solidFill>
                <a:latin typeface="Aptos"/>
              </a:defRPr>
            </a:pPr>
            <a:r>
              <a:t>DATA  →  PREPARE  →  MODEL  →  VISUALIZE  →  INTERACT  →  INSPECT</a:t>
            </a:r>
          </a:p>
        </p:txBody>
      </p:sp>
      <p:sp>
        <p:nvSpPr>
          <p:cNvPr id="27" name="TextBox 26"/>
          <p:cNvSpPr txBox="1"/>
          <p:nvPr/>
        </p:nvSpPr>
        <p:spPr>
          <a:xfrm>
            <a:off x="1097280" y="5166360"/>
            <a:ext cx="9966960" cy="457200"/>
          </a:xfrm>
          <a:prstGeom prst="rect">
            <a:avLst/>
          </a:prstGeom>
          <a:noFill/>
        </p:spPr>
        <p:txBody>
          <a:bodyPr wrap="square" lIns="73152" rIns="73152" tIns="36576" anchor="t">
            <a:spAutoFit/>
          </a:bodyPr>
          <a:lstStyle/>
          <a:p>
            <a:pPr algn="ctr">
              <a:spcAft>
                <a:spcPts val="500"/>
              </a:spcAft>
              <a:defRPr sz="1400" b="0">
                <a:solidFill>
                  <a:srgbClr val="647191"/>
                </a:solidFill>
                <a:latin typeface="Aptos"/>
              </a:defRPr>
            </a:pPr>
            <a:r>
              <a:t>Page navigation provides a consistent way to move between report views.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972800" cy="228600"/>
          </a:xfrm>
          <a:prstGeom prst="rect">
            <a:avLst/>
          </a:prstGeom>
          <a:noFill/>
        </p:spPr>
        <p:txBody>
          <a:bodyPr wrap="square" lIns="73152" rIns="73152" tIns="36576" anchor="t">
            <a:spAutoFit/>
          </a:bodyPr>
          <a:lstStyle/>
          <a:p>
            <a:pPr>
              <a:spcAft>
                <a:spcPts val="500"/>
              </a:spcAft>
              <a:defRPr sz="1000" b="1">
                <a:solidFill>
                  <a:srgbClr val="1C2C70"/>
                </a:solidFill>
                <a:latin typeface="Aptos"/>
              </a:defRPr>
            </a:pPr>
            <a:r>
              <a:t>DATA  |  INSIGHTS  |  SAFER TOMORROW</a:t>
            </a:r>
          </a:p>
        </p:txBody>
      </p:sp>
      <p:sp>
        <p:nvSpPr>
          <p:cNvPr id="3" name="TextBox 2"/>
          <p:cNvSpPr txBox="1"/>
          <p:nvPr/>
        </p:nvSpPr>
        <p:spPr>
          <a:xfrm>
            <a:off x="502920" y="457200"/>
            <a:ext cx="11155680" cy="502920"/>
          </a:xfrm>
          <a:prstGeom prst="rect">
            <a:avLst/>
          </a:prstGeom>
          <a:noFill/>
        </p:spPr>
        <p:txBody>
          <a:bodyPr wrap="square" lIns="73152" rIns="73152" tIns="36576" anchor="t">
            <a:spAutoFit/>
          </a:bodyPr>
          <a:lstStyle/>
          <a:p>
            <a:pPr>
              <a:spcAft>
                <a:spcPts val="500"/>
              </a:spcAft>
              <a:defRPr sz="2600" b="1">
                <a:solidFill>
                  <a:srgbClr val="237BBE"/>
                </a:solidFill>
                <a:latin typeface="Aptos"/>
              </a:defRPr>
            </a:pPr>
            <a:r>
              <a:t>Executive Overview</a:t>
            </a:r>
          </a:p>
        </p:txBody>
      </p:sp>
      <p:sp>
        <p:nvSpPr>
          <p:cNvPr id="4" name="TextBox 3"/>
          <p:cNvSpPr txBox="1"/>
          <p:nvPr/>
        </p:nvSpPr>
        <p:spPr>
          <a:xfrm>
            <a:off x="530352" y="969264"/>
            <a:ext cx="10972800" cy="310896"/>
          </a:xfrm>
          <a:prstGeom prst="rect">
            <a:avLst/>
          </a:prstGeom>
          <a:noFill/>
        </p:spPr>
        <p:txBody>
          <a:bodyPr wrap="square" lIns="73152" rIns="73152" tIns="36576" anchor="t">
            <a:spAutoFit/>
          </a:bodyPr>
          <a:lstStyle/>
          <a:p>
            <a:pPr>
              <a:spcAft>
                <a:spcPts val="500"/>
              </a:spcAft>
              <a:defRPr sz="1300" b="0">
                <a:solidFill>
                  <a:srgbClr val="DE3FA3"/>
                </a:solidFill>
                <a:latin typeface="Aptos"/>
              </a:defRPr>
            </a:pPr>
            <a:r>
              <a:t>Key indicators, city comparisons and monthly incident patterns</a:t>
            </a:r>
          </a:p>
        </p:txBody>
      </p:sp>
      <p:sp>
        <p:nvSpPr>
          <p:cNvPr id="5" name="Rectangle 4"/>
          <p:cNvSpPr/>
          <p:nvPr/>
        </p:nvSpPr>
        <p:spPr>
          <a:xfrm>
            <a:off x="502920" y="1335024"/>
            <a:ext cx="11155680" cy="2286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28816"/>
            <a:ext cx="457200" cy="182880"/>
          </a:xfrm>
          <a:prstGeom prst="rect">
            <a:avLst/>
          </a:prstGeom>
          <a:noFill/>
        </p:spPr>
        <p:txBody>
          <a:bodyPr wrap="square" lIns="73152" rIns="73152" tIns="36576" anchor="t">
            <a:spAutoFit/>
          </a:bodyPr>
          <a:lstStyle/>
          <a:p>
            <a:pPr algn="r">
              <a:spcAft>
                <a:spcPts val="500"/>
              </a:spcAft>
              <a:defRPr sz="900" b="1">
                <a:solidFill>
                  <a:srgbClr val="647191"/>
                </a:solidFill>
                <a:latin typeface="Aptos"/>
              </a:defRPr>
            </a:pPr>
            <a:r>
              <a:t>06</a:t>
            </a:r>
          </a:p>
        </p:txBody>
      </p:sp>
      <p:pic>
        <p:nvPicPr>
          <p:cNvPr id="7" name="Picture 6" descr="1000077572.jpg"/>
          <p:cNvPicPr>
            <a:picLocks noChangeAspect="1"/>
          </p:cNvPicPr>
          <p:nvPr/>
        </p:nvPicPr>
        <p:blipFill>
          <a:blip r:embed="rId2"/>
          <a:stretch>
            <a:fillRect/>
          </a:stretch>
        </p:blipFill>
        <p:spPr>
          <a:xfrm>
            <a:off x="502920" y="1760871"/>
            <a:ext cx="7543800" cy="4150072"/>
          </a:xfrm>
          <a:prstGeom prst="rect">
            <a:avLst/>
          </a:prstGeom>
        </p:spPr>
      </p:pic>
      <p:sp>
        <p:nvSpPr>
          <p:cNvPr id="8" name="Rounded Rectangle 7"/>
          <p:cNvSpPr/>
          <p:nvPr/>
        </p:nvSpPr>
        <p:spPr>
          <a:xfrm>
            <a:off x="8229600" y="1645920"/>
            <a:ext cx="3429000" cy="438912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0" y="1645920"/>
            <a:ext cx="64008" cy="438912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1737360"/>
            <a:ext cx="315468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WHAT THIS PAGE ANSWERS</a:t>
            </a:r>
          </a:p>
        </p:txBody>
      </p:sp>
      <p:sp>
        <p:nvSpPr>
          <p:cNvPr id="11" name="TextBox 10"/>
          <p:cNvSpPr txBox="1"/>
          <p:nvPr/>
        </p:nvSpPr>
        <p:spPr>
          <a:xfrm>
            <a:off x="8394192" y="2093976"/>
            <a:ext cx="3154680" cy="3886200"/>
          </a:xfrm>
          <a:prstGeom prst="rect">
            <a:avLst/>
          </a:prstGeom>
          <a:noFill/>
        </p:spPr>
        <p:txBody>
          <a:bodyPr wrap="square" lIns="73152" rIns="73152" tIns="36576" anchor="t">
            <a:spAutoFit/>
          </a:bodyPr>
          <a:lstStyle/>
          <a:p>
            <a:pPr>
              <a:spcAft>
                <a:spcPts val="500"/>
              </a:spcAft>
              <a:defRPr sz="1200" b="0">
                <a:solidFill>
                  <a:srgbClr val="2A3358"/>
                </a:solidFill>
                <a:latin typeface="Aptos"/>
              </a:defRPr>
            </a:pPr>
            <a:r>
              <a:t>01  100K total incidents and 91K reported incidents appear in the KPI row.</a:t>
            </a:r>
          </a:p>
          <a:p>
            <a:pPr>
              <a:spcAft>
                <a:spcPts val="500"/>
              </a:spcAft>
              <a:defRPr sz="1200" b="0">
                <a:solidFill>
                  <a:srgbClr val="2A3358"/>
                </a:solidFill>
                <a:latin typeface="Aptos"/>
              </a:defRPr>
            </a:pPr>
            <a:r>
              <a:t>02  Overall Safety Index: 62.81; High and Critical Risk: 33.00%.</a:t>
            </a:r>
          </a:p>
          <a:p>
            <a:pPr>
              <a:spcAft>
                <a:spcPts val="500"/>
              </a:spcAft>
              <a:defRPr sz="1200" b="0">
                <a:solidFill>
                  <a:srgbClr val="2A3358"/>
                </a:solidFill>
                <a:latin typeface="Aptos"/>
              </a:defRPr>
            </a:pPr>
            <a:r>
              <a:t>03  Average emergency response time is displayed as 19.54.</a:t>
            </a:r>
          </a:p>
          <a:p>
            <a:pPr>
              <a:spcAft>
                <a:spcPts val="500"/>
              </a:spcAft>
              <a:defRPr sz="1200" b="0">
                <a:solidFill>
                  <a:srgbClr val="2A3358"/>
                </a:solidFill>
                <a:latin typeface="Aptos"/>
              </a:defRPr>
            </a:pPr>
            <a:r>
              <a:t>04  Monthly incident trends and risk-level distribution support exploration.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972800" cy="228600"/>
          </a:xfrm>
          <a:prstGeom prst="rect">
            <a:avLst/>
          </a:prstGeom>
          <a:noFill/>
        </p:spPr>
        <p:txBody>
          <a:bodyPr wrap="square" lIns="73152" rIns="73152" tIns="36576" anchor="t">
            <a:spAutoFit/>
          </a:bodyPr>
          <a:lstStyle/>
          <a:p>
            <a:pPr>
              <a:spcAft>
                <a:spcPts val="500"/>
              </a:spcAft>
              <a:defRPr sz="1000" b="1">
                <a:solidFill>
                  <a:srgbClr val="1C2C70"/>
                </a:solidFill>
                <a:latin typeface="Aptos"/>
              </a:defRPr>
            </a:pPr>
            <a:r>
              <a:t>DATA  |  INSIGHTS  |  SAFER TOMORROW</a:t>
            </a:r>
          </a:p>
        </p:txBody>
      </p:sp>
      <p:sp>
        <p:nvSpPr>
          <p:cNvPr id="3" name="TextBox 2"/>
          <p:cNvSpPr txBox="1"/>
          <p:nvPr/>
        </p:nvSpPr>
        <p:spPr>
          <a:xfrm>
            <a:off x="502920" y="457200"/>
            <a:ext cx="11155680" cy="502920"/>
          </a:xfrm>
          <a:prstGeom prst="rect">
            <a:avLst/>
          </a:prstGeom>
          <a:noFill/>
        </p:spPr>
        <p:txBody>
          <a:bodyPr wrap="square" lIns="73152" rIns="73152" tIns="36576" anchor="t">
            <a:spAutoFit/>
          </a:bodyPr>
          <a:lstStyle/>
          <a:p>
            <a:pPr>
              <a:spcAft>
                <a:spcPts val="500"/>
              </a:spcAft>
              <a:defRPr sz="2600" b="1">
                <a:solidFill>
                  <a:srgbClr val="237BBE"/>
                </a:solidFill>
                <a:latin typeface="Aptos"/>
              </a:defRPr>
            </a:pPr>
            <a:r>
              <a:t>Hotspots</a:t>
            </a:r>
          </a:p>
        </p:txBody>
      </p:sp>
      <p:sp>
        <p:nvSpPr>
          <p:cNvPr id="4" name="TextBox 3"/>
          <p:cNvSpPr txBox="1"/>
          <p:nvPr/>
        </p:nvSpPr>
        <p:spPr>
          <a:xfrm>
            <a:off x="530352" y="969264"/>
            <a:ext cx="10972800" cy="310896"/>
          </a:xfrm>
          <a:prstGeom prst="rect">
            <a:avLst/>
          </a:prstGeom>
          <a:noFill/>
        </p:spPr>
        <p:txBody>
          <a:bodyPr wrap="square" lIns="73152" rIns="73152" tIns="36576" anchor="t">
            <a:spAutoFit/>
          </a:bodyPr>
          <a:lstStyle/>
          <a:p>
            <a:pPr>
              <a:spcAft>
                <a:spcPts val="500"/>
              </a:spcAft>
              <a:defRPr sz="1300" b="0">
                <a:solidFill>
                  <a:srgbClr val="DE3FA3"/>
                </a:solidFill>
                <a:latin typeface="Aptos"/>
              </a:defRPr>
            </a:pPr>
            <a:r>
              <a:t>Identify risk areas and examine incident timing patterns</a:t>
            </a:r>
          </a:p>
        </p:txBody>
      </p:sp>
      <p:sp>
        <p:nvSpPr>
          <p:cNvPr id="5" name="Rectangle 4"/>
          <p:cNvSpPr/>
          <p:nvPr/>
        </p:nvSpPr>
        <p:spPr>
          <a:xfrm>
            <a:off x="502920" y="1335024"/>
            <a:ext cx="11155680" cy="2286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28816"/>
            <a:ext cx="457200" cy="182880"/>
          </a:xfrm>
          <a:prstGeom prst="rect">
            <a:avLst/>
          </a:prstGeom>
          <a:noFill/>
        </p:spPr>
        <p:txBody>
          <a:bodyPr wrap="square" lIns="73152" rIns="73152" tIns="36576" anchor="t">
            <a:spAutoFit/>
          </a:bodyPr>
          <a:lstStyle/>
          <a:p>
            <a:pPr algn="r">
              <a:spcAft>
                <a:spcPts val="500"/>
              </a:spcAft>
              <a:defRPr sz="900" b="1">
                <a:solidFill>
                  <a:srgbClr val="647191"/>
                </a:solidFill>
                <a:latin typeface="Aptos"/>
              </a:defRPr>
            </a:pPr>
            <a:r>
              <a:t>07</a:t>
            </a:r>
          </a:p>
        </p:txBody>
      </p:sp>
      <p:pic>
        <p:nvPicPr>
          <p:cNvPr id="7" name="Picture 6" descr="1000077573.jpg"/>
          <p:cNvPicPr>
            <a:picLocks noChangeAspect="1"/>
          </p:cNvPicPr>
          <p:nvPr/>
        </p:nvPicPr>
        <p:blipFill>
          <a:blip r:embed="rId2"/>
          <a:stretch>
            <a:fillRect/>
          </a:stretch>
        </p:blipFill>
        <p:spPr>
          <a:xfrm>
            <a:off x="502920" y="1726492"/>
            <a:ext cx="7543800" cy="4218830"/>
          </a:xfrm>
          <a:prstGeom prst="rect">
            <a:avLst/>
          </a:prstGeom>
        </p:spPr>
      </p:pic>
      <p:sp>
        <p:nvSpPr>
          <p:cNvPr id="8" name="Rounded Rectangle 7"/>
          <p:cNvSpPr/>
          <p:nvPr/>
        </p:nvSpPr>
        <p:spPr>
          <a:xfrm>
            <a:off x="8229600" y="1645920"/>
            <a:ext cx="3429000" cy="438912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0" y="1645920"/>
            <a:ext cx="64008" cy="438912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1737360"/>
            <a:ext cx="315468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WHAT THIS PAGE ANSWERS</a:t>
            </a:r>
          </a:p>
        </p:txBody>
      </p:sp>
      <p:sp>
        <p:nvSpPr>
          <p:cNvPr id="11" name="TextBox 10"/>
          <p:cNvSpPr txBox="1"/>
          <p:nvPr/>
        </p:nvSpPr>
        <p:spPr>
          <a:xfrm>
            <a:off x="8394192" y="2093976"/>
            <a:ext cx="3154680" cy="3886200"/>
          </a:xfrm>
          <a:prstGeom prst="rect">
            <a:avLst/>
          </a:prstGeom>
          <a:noFill/>
        </p:spPr>
        <p:txBody>
          <a:bodyPr wrap="square" lIns="73152" rIns="73152" tIns="36576" anchor="t">
            <a:spAutoFit/>
          </a:bodyPr>
          <a:lstStyle/>
          <a:p>
            <a:pPr>
              <a:spcAft>
                <a:spcPts val="500"/>
              </a:spcAft>
              <a:defRPr sz="1200" b="0">
                <a:solidFill>
                  <a:srgbClr val="2A3358"/>
                </a:solidFill>
                <a:latin typeface="Aptos"/>
              </a:defRPr>
            </a:pPr>
            <a:r>
              <a:t>01  High and Critical Risk: 33.00%; Night-Time Incident: 39.42%.</a:t>
            </a:r>
          </a:p>
          <a:p>
            <a:pPr>
              <a:spcAft>
                <a:spcPts val="500"/>
              </a:spcAft>
              <a:defRPr sz="1200" b="0">
                <a:solidFill>
                  <a:srgbClr val="2A3358"/>
                </a:solidFill>
                <a:latin typeface="Aptos"/>
              </a:defRPr>
            </a:pPr>
            <a:r>
              <a:t>02  Overall Safety Index is displayed as 62.81.</a:t>
            </a:r>
          </a:p>
          <a:p>
            <a:pPr>
              <a:spcAft>
                <a:spcPts val="500"/>
              </a:spcAft>
              <a:defRPr sz="1200" b="0">
                <a:solidFill>
                  <a:srgbClr val="2A3358"/>
                </a:solidFill>
                <a:latin typeface="Aptos"/>
              </a:defRPr>
            </a:pPr>
            <a:r>
              <a:t>03  Hour-by-day matrix compares incidents across days and hours.</a:t>
            </a:r>
          </a:p>
          <a:p>
            <a:pPr>
              <a:spcAft>
                <a:spcPts val="500"/>
              </a:spcAft>
              <a:defRPr sz="1200" b="0">
                <a:solidFill>
                  <a:srgbClr val="2A3358"/>
                </a:solidFill>
                <a:latin typeface="Aptos"/>
              </a:defRPr>
            </a:pPr>
            <a:r>
              <a:t>04  Area counts and weekday-versus-weekend visuals support hotspot exploration.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972800" cy="228600"/>
          </a:xfrm>
          <a:prstGeom prst="rect">
            <a:avLst/>
          </a:prstGeom>
          <a:noFill/>
        </p:spPr>
        <p:txBody>
          <a:bodyPr wrap="square" lIns="73152" rIns="73152" tIns="36576" anchor="t">
            <a:spAutoFit/>
          </a:bodyPr>
          <a:lstStyle/>
          <a:p>
            <a:pPr>
              <a:spcAft>
                <a:spcPts val="500"/>
              </a:spcAft>
              <a:defRPr sz="1000" b="1">
                <a:solidFill>
                  <a:srgbClr val="1C2C70"/>
                </a:solidFill>
                <a:latin typeface="Aptos"/>
              </a:defRPr>
            </a:pPr>
            <a:r>
              <a:t>DATA  |  INSIGHTS  |  SAFER TOMORROW</a:t>
            </a:r>
          </a:p>
        </p:txBody>
      </p:sp>
      <p:sp>
        <p:nvSpPr>
          <p:cNvPr id="3" name="TextBox 2"/>
          <p:cNvSpPr txBox="1"/>
          <p:nvPr/>
        </p:nvSpPr>
        <p:spPr>
          <a:xfrm>
            <a:off x="502920" y="457200"/>
            <a:ext cx="11155680" cy="502920"/>
          </a:xfrm>
          <a:prstGeom prst="rect">
            <a:avLst/>
          </a:prstGeom>
          <a:noFill/>
        </p:spPr>
        <p:txBody>
          <a:bodyPr wrap="square" lIns="73152" rIns="73152" tIns="36576" anchor="t">
            <a:spAutoFit/>
          </a:bodyPr>
          <a:lstStyle/>
          <a:p>
            <a:pPr>
              <a:spcAft>
                <a:spcPts val="500"/>
              </a:spcAft>
              <a:defRPr sz="2600" b="1">
                <a:solidFill>
                  <a:srgbClr val="237BBE"/>
                </a:solidFill>
                <a:latin typeface="Aptos"/>
              </a:defRPr>
            </a:pPr>
            <a:r>
              <a:t>Transport, Environment Mode &amp; Severity</a:t>
            </a:r>
          </a:p>
        </p:txBody>
      </p:sp>
      <p:sp>
        <p:nvSpPr>
          <p:cNvPr id="4" name="TextBox 3"/>
          <p:cNvSpPr txBox="1"/>
          <p:nvPr/>
        </p:nvSpPr>
        <p:spPr>
          <a:xfrm>
            <a:off x="530352" y="969264"/>
            <a:ext cx="10972800" cy="310896"/>
          </a:xfrm>
          <a:prstGeom prst="rect">
            <a:avLst/>
          </a:prstGeom>
          <a:noFill/>
        </p:spPr>
        <p:txBody>
          <a:bodyPr wrap="square" lIns="73152" rIns="73152" tIns="36576" anchor="t">
            <a:spAutoFit/>
          </a:bodyPr>
          <a:lstStyle/>
          <a:p>
            <a:pPr>
              <a:spcAft>
                <a:spcPts val="500"/>
              </a:spcAft>
              <a:defRPr sz="1300" b="0">
                <a:solidFill>
                  <a:srgbClr val="DE3FA3"/>
                </a:solidFill>
                <a:latin typeface="Aptos"/>
              </a:defRPr>
            </a:pPr>
            <a:r>
              <a:t>Compare transport categories and environmental indicators</a:t>
            </a:r>
          </a:p>
        </p:txBody>
      </p:sp>
      <p:sp>
        <p:nvSpPr>
          <p:cNvPr id="5" name="Rectangle 4"/>
          <p:cNvSpPr/>
          <p:nvPr/>
        </p:nvSpPr>
        <p:spPr>
          <a:xfrm>
            <a:off x="502920" y="1335024"/>
            <a:ext cx="11155680" cy="2286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28816"/>
            <a:ext cx="457200" cy="182880"/>
          </a:xfrm>
          <a:prstGeom prst="rect">
            <a:avLst/>
          </a:prstGeom>
          <a:noFill/>
        </p:spPr>
        <p:txBody>
          <a:bodyPr wrap="square" lIns="73152" rIns="73152" tIns="36576" anchor="t">
            <a:spAutoFit/>
          </a:bodyPr>
          <a:lstStyle/>
          <a:p>
            <a:pPr algn="r">
              <a:spcAft>
                <a:spcPts val="500"/>
              </a:spcAft>
              <a:defRPr sz="900" b="1">
                <a:solidFill>
                  <a:srgbClr val="647191"/>
                </a:solidFill>
                <a:latin typeface="Aptos"/>
              </a:defRPr>
            </a:pPr>
            <a:r>
              <a:t>08</a:t>
            </a:r>
          </a:p>
        </p:txBody>
      </p:sp>
      <p:pic>
        <p:nvPicPr>
          <p:cNvPr id="7" name="Picture 6" descr="1000077574.jpg"/>
          <p:cNvPicPr>
            <a:picLocks noChangeAspect="1"/>
          </p:cNvPicPr>
          <p:nvPr/>
        </p:nvPicPr>
        <p:blipFill>
          <a:blip r:embed="rId2"/>
          <a:stretch>
            <a:fillRect/>
          </a:stretch>
        </p:blipFill>
        <p:spPr>
          <a:xfrm>
            <a:off x="502920" y="1716669"/>
            <a:ext cx="7543800" cy="4238476"/>
          </a:xfrm>
          <a:prstGeom prst="rect">
            <a:avLst/>
          </a:prstGeom>
        </p:spPr>
      </p:pic>
      <p:sp>
        <p:nvSpPr>
          <p:cNvPr id="8" name="Rounded Rectangle 7"/>
          <p:cNvSpPr/>
          <p:nvPr/>
        </p:nvSpPr>
        <p:spPr>
          <a:xfrm>
            <a:off x="8229600" y="1645920"/>
            <a:ext cx="3429000" cy="438912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0" y="1645920"/>
            <a:ext cx="64008" cy="438912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1737360"/>
            <a:ext cx="315468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WHAT THIS PAGE ANSWERS</a:t>
            </a:r>
          </a:p>
        </p:txBody>
      </p:sp>
      <p:sp>
        <p:nvSpPr>
          <p:cNvPr id="11" name="TextBox 10"/>
          <p:cNvSpPr txBox="1"/>
          <p:nvPr/>
        </p:nvSpPr>
        <p:spPr>
          <a:xfrm>
            <a:off x="8394192" y="2093976"/>
            <a:ext cx="3154680" cy="3886200"/>
          </a:xfrm>
          <a:prstGeom prst="rect">
            <a:avLst/>
          </a:prstGeom>
          <a:noFill/>
        </p:spPr>
        <p:txBody>
          <a:bodyPr wrap="square" lIns="73152" rIns="73152" tIns="36576" anchor="t">
            <a:spAutoFit/>
          </a:bodyPr>
          <a:lstStyle/>
          <a:p>
            <a:pPr>
              <a:spcAft>
                <a:spcPts val="500"/>
              </a:spcAft>
              <a:defRPr sz="1200" b="0">
                <a:solidFill>
                  <a:srgbClr val="2A3358"/>
                </a:solidFill>
                <a:latin typeface="Aptos"/>
              </a:defRPr>
            </a:pPr>
            <a:r>
              <a:t>01  Incident types are compared across seven transport categories.</a:t>
            </a:r>
          </a:p>
          <a:p>
            <a:pPr>
              <a:spcAft>
                <a:spcPts val="500"/>
              </a:spcAft>
              <a:defRPr sz="1200" b="0">
                <a:solidFill>
                  <a:srgbClr val="2A3358"/>
                </a:solidFill>
                <a:latin typeface="Aptos"/>
              </a:defRPr>
            </a:pPr>
            <a:r>
              <a:t>02  Severity mix is compared by transport mode.</a:t>
            </a:r>
          </a:p>
          <a:p>
            <a:pPr>
              <a:spcAft>
                <a:spcPts val="500"/>
              </a:spcAft>
              <a:defRPr sz="1200" b="0">
                <a:solidFill>
                  <a:srgbClr val="2A3358"/>
                </a:solidFill>
                <a:latin typeface="Aptos"/>
              </a:defRPr>
            </a:pPr>
            <a:r>
              <a:t>03  Public Transport Incident is displayed as 44.85%.</a:t>
            </a:r>
          </a:p>
          <a:p>
            <a:pPr>
              <a:spcAft>
                <a:spcPts val="500"/>
              </a:spcAft>
              <a:defRPr sz="1200" b="0">
                <a:solidFill>
                  <a:srgbClr val="2A3358"/>
                </a:solidFill>
                <a:latin typeface="Aptos"/>
              </a:defRPr>
            </a:pPr>
            <a:r>
              <a:t>04  Lighting, crowd density, visibility and transport availability scores are included.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972800" cy="228600"/>
          </a:xfrm>
          <a:prstGeom prst="rect">
            <a:avLst/>
          </a:prstGeom>
          <a:noFill/>
        </p:spPr>
        <p:txBody>
          <a:bodyPr wrap="square" lIns="73152" rIns="73152" tIns="36576" anchor="t">
            <a:spAutoFit/>
          </a:bodyPr>
          <a:lstStyle/>
          <a:p>
            <a:pPr>
              <a:spcAft>
                <a:spcPts val="500"/>
              </a:spcAft>
              <a:defRPr sz="1000" b="1">
                <a:solidFill>
                  <a:srgbClr val="1C2C70"/>
                </a:solidFill>
                <a:latin typeface="Aptos"/>
              </a:defRPr>
            </a:pPr>
            <a:r>
              <a:t>DATA  |  INSIGHTS  |  SAFER TOMORROW</a:t>
            </a:r>
          </a:p>
        </p:txBody>
      </p:sp>
      <p:sp>
        <p:nvSpPr>
          <p:cNvPr id="3" name="TextBox 2"/>
          <p:cNvSpPr txBox="1"/>
          <p:nvPr/>
        </p:nvSpPr>
        <p:spPr>
          <a:xfrm>
            <a:off x="502920" y="457200"/>
            <a:ext cx="11155680" cy="502920"/>
          </a:xfrm>
          <a:prstGeom prst="rect">
            <a:avLst/>
          </a:prstGeom>
          <a:noFill/>
        </p:spPr>
        <p:txBody>
          <a:bodyPr wrap="square" lIns="73152" rIns="73152" tIns="36576" anchor="t">
            <a:spAutoFit/>
          </a:bodyPr>
          <a:lstStyle/>
          <a:p>
            <a:pPr>
              <a:spcAft>
                <a:spcPts val="500"/>
              </a:spcAft>
              <a:defRPr sz="2600" b="1">
                <a:solidFill>
                  <a:srgbClr val="237BBE"/>
                </a:solidFill>
                <a:latin typeface="Aptos"/>
              </a:defRPr>
            </a:pPr>
            <a:r>
              <a:t>Emergency Response &amp; Outcomes</a:t>
            </a:r>
          </a:p>
        </p:txBody>
      </p:sp>
      <p:sp>
        <p:nvSpPr>
          <p:cNvPr id="4" name="TextBox 3"/>
          <p:cNvSpPr txBox="1"/>
          <p:nvPr/>
        </p:nvSpPr>
        <p:spPr>
          <a:xfrm>
            <a:off x="530352" y="969264"/>
            <a:ext cx="10972800" cy="310896"/>
          </a:xfrm>
          <a:prstGeom prst="rect">
            <a:avLst/>
          </a:prstGeom>
          <a:noFill/>
        </p:spPr>
        <p:txBody>
          <a:bodyPr wrap="square" lIns="73152" rIns="73152" tIns="36576" anchor="t">
            <a:spAutoFit/>
          </a:bodyPr>
          <a:lstStyle/>
          <a:p>
            <a:pPr>
              <a:spcAft>
                <a:spcPts val="500"/>
              </a:spcAft>
              <a:defRPr sz="1300" b="0">
                <a:solidFill>
                  <a:srgbClr val="DE3FA3"/>
                </a:solidFill>
                <a:latin typeface="Aptos"/>
              </a:defRPr>
            </a:pPr>
            <a:r>
              <a:t>Review response time, area-level safety and case resolution</a:t>
            </a:r>
          </a:p>
        </p:txBody>
      </p:sp>
      <p:sp>
        <p:nvSpPr>
          <p:cNvPr id="5" name="Rectangle 4"/>
          <p:cNvSpPr/>
          <p:nvPr/>
        </p:nvSpPr>
        <p:spPr>
          <a:xfrm>
            <a:off x="502920" y="1335024"/>
            <a:ext cx="11155680" cy="2286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28816"/>
            <a:ext cx="457200" cy="182880"/>
          </a:xfrm>
          <a:prstGeom prst="rect">
            <a:avLst/>
          </a:prstGeom>
          <a:noFill/>
        </p:spPr>
        <p:txBody>
          <a:bodyPr wrap="square" lIns="73152" rIns="73152" tIns="36576" anchor="t">
            <a:spAutoFit/>
          </a:bodyPr>
          <a:lstStyle/>
          <a:p>
            <a:pPr algn="r">
              <a:spcAft>
                <a:spcPts val="500"/>
              </a:spcAft>
              <a:defRPr sz="900" b="1">
                <a:solidFill>
                  <a:srgbClr val="647191"/>
                </a:solidFill>
                <a:latin typeface="Aptos"/>
              </a:defRPr>
            </a:pPr>
            <a:r>
              <a:t>09</a:t>
            </a:r>
          </a:p>
        </p:txBody>
      </p:sp>
      <p:pic>
        <p:nvPicPr>
          <p:cNvPr id="7" name="Picture 6" descr="1000077575.jpg"/>
          <p:cNvPicPr>
            <a:picLocks noChangeAspect="1"/>
          </p:cNvPicPr>
          <p:nvPr/>
        </p:nvPicPr>
        <p:blipFill>
          <a:blip r:embed="rId2"/>
          <a:stretch>
            <a:fillRect/>
          </a:stretch>
        </p:blipFill>
        <p:spPr>
          <a:xfrm>
            <a:off x="502920" y="1731403"/>
            <a:ext cx="7543800" cy="4209008"/>
          </a:xfrm>
          <a:prstGeom prst="rect">
            <a:avLst/>
          </a:prstGeom>
        </p:spPr>
      </p:pic>
      <p:sp>
        <p:nvSpPr>
          <p:cNvPr id="8" name="Rounded Rectangle 7"/>
          <p:cNvSpPr/>
          <p:nvPr/>
        </p:nvSpPr>
        <p:spPr>
          <a:xfrm>
            <a:off x="8229600" y="1645920"/>
            <a:ext cx="3429000" cy="438912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0" y="1645920"/>
            <a:ext cx="64008" cy="438912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1737360"/>
            <a:ext cx="315468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WHAT THIS PAGE ANSWERS</a:t>
            </a:r>
          </a:p>
        </p:txBody>
      </p:sp>
      <p:sp>
        <p:nvSpPr>
          <p:cNvPr id="11" name="TextBox 10"/>
          <p:cNvSpPr txBox="1"/>
          <p:nvPr/>
        </p:nvSpPr>
        <p:spPr>
          <a:xfrm>
            <a:off x="8394192" y="2093976"/>
            <a:ext cx="3154680" cy="3886200"/>
          </a:xfrm>
          <a:prstGeom prst="rect">
            <a:avLst/>
          </a:prstGeom>
          <a:noFill/>
        </p:spPr>
        <p:txBody>
          <a:bodyPr wrap="square" lIns="73152" rIns="73152" tIns="36576" anchor="t">
            <a:spAutoFit/>
          </a:bodyPr>
          <a:lstStyle/>
          <a:p>
            <a:pPr>
              <a:spcAft>
                <a:spcPts val="500"/>
              </a:spcAft>
              <a:defRPr sz="1200" b="0">
                <a:solidFill>
                  <a:srgbClr val="2A3358"/>
                </a:solidFill>
                <a:latin typeface="Aptos"/>
              </a:defRPr>
            </a:pPr>
            <a:r>
              <a:t>01  Average Emergency Response Time is displayed as 19.54.</a:t>
            </a:r>
          </a:p>
          <a:p>
            <a:pPr>
              <a:spcAft>
                <a:spcPts val="500"/>
              </a:spcAft>
              <a:defRPr sz="1200" b="0">
                <a:solidFill>
                  <a:srgbClr val="2A3358"/>
                </a:solidFill>
                <a:latin typeface="Aptos"/>
              </a:defRPr>
            </a:pPr>
            <a:r>
              <a:t>02  Response time by city and police distance versus response time are visualized.</a:t>
            </a:r>
          </a:p>
          <a:p>
            <a:pPr>
              <a:spcAft>
                <a:spcPts val="500"/>
              </a:spcAft>
              <a:defRPr sz="1200" b="0">
                <a:solidFill>
                  <a:srgbClr val="2A3358"/>
                </a:solidFill>
                <a:latin typeface="Aptos"/>
              </a:defRPr>
            </a:pPr>
            <a:r>
              <a:t>03  Area Safety Scorecard compares safety index and total incidents.</a:t>
            </a:r>
          </a:p>
          <a:p>
            <a:pPr>
              <a:spcAft>
                <a:spcPts val="500"/>
              </a:spcAft>
              <a:defRPr sz="1200" b="0">
                <a:solidFill>
                  <a:srgbClr val="2A3358"/>
                </a:solidFill>
                <a:latin typeface="Aptos"/>
              </a:defRPr>
            </a:pPr>
            <a:r>
              <a:t>04  Case status categories include Resolved, Under Investigation, No Further Action and Referred.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972800" cy="228600"/>
          </a:xfrm>
          <a:prstGeom prst="rect">
            <a:avLst/>
          </a:prstGeom>
          <a:noFill/>
        </p:spPr>
        <p:txBody>
          <a:bodyPr wrap="square" lIns="73152" rIns="73152" tIns="36576" anchor="t">
            <a:spAutoFit/>
          </a:bodyPr>
          <a:lstStyle/>
          <a:p>
            <a:pPr>
              <a:spcAft>
                <a:spcPts val="500"/>
              </a:spcAft>
              <a:defRPr sz="1000" b="1">
                <a:solidFill>
                  <a:srgbClr val="1C2C70"/>
                </a:solidFill>
                <a:latin typeface="Aptos"/>
              </a:defRPr>
            </a:pPr>
            <a:r>
              <a:t>DATA  |  INSIGHTS  |  SAFER TOMORROW</a:t>
            </a:r>
          </a:p>
        </p:txBody>
      </p:sp>
      <p:sp>
        <p:nvSpPr>
          <p:cNvPr id="3" name="TextBox 2"/>
          <p:cNvSpPr txBox="1"/>
          <p:nvPr/>
        </p:nvSpPr>
        <p:spPr>
          <a:xfrm>
            <a:off x="502920" y="457200"/>
            <a:ext cx="11155680" cy="502920"/>
          </a:xfrm>
          <a:prstGeom prst="rect">
            <a:avLst/>
          </a:prstGeom>
          <a:noFill/>
        </p:spPr>
        <p:txBody>
          <a:bodyPr wrap="square" lIns="73152" rIns="73152" tIns="36576" anchor="t">
            <a:spAutoFit/>
          </a:bodyPr>
          <a:lstStyle/>
          <a:p>
            <a:pPr>
              <a:spcAft>
                <a:spcPts val="500"/>
              </a:spcAft>
              <a:defRPr sz="2600" b="1">
                <a:solidFill>
                  <a:srgbClr val="237BBE"/>
                </a:solidFill>
                <a:latin typeface="Aptos"/>
              </a:defRPr>
            </a:pPr>
            <a:r>
              <a:t>Key Insights from the Current Dashboard</a:t>
            </a:r>
          </a:p>
        </p:txBody>
      </p:sp>
      <p:sp>
        <p:nvSpPr>
          <p:cNvPr id="4" name="TextBox 3"/>
          <p:cNvSpPr txBox="1"/>
          <p:nvPr/>
        </p:nvSpPr>
        <p:spPr>
          <a:xfrm>
            <a:off x="530352" y="969264"/>
            <a:ext cx="10972800" cy="310896"/>
          </a:xfrm>
          <a:prstGeom prst="rect">
            <a:avLst/>
          </a:prstGeom>
          <a:noFill/>
        </p:spPr>
        <p:txBody>
          <a:bodyPr wrap="square" lIns="73152" rIns="73152" tIns="36576" anchor="t">
            <a:spAutoFit/>
          </a:bodyPr>
          <a:lstStyle/>
          <a:p>
            <a:pPr>
              <a:spcAft>
                <a:spcPts val="500"/>
              </a:spcAft>
              <a:defRPr sz="1300" b="0">
                <a:solidFill>
                  <a:srgbClr val="DE3FA3"/>
                </a:solidFill>
                <a:latin typeface="Aptos"/>
              </a:defRPr>
            </a:pPr>
            <a:r>
              <a:t>Descriptive observations visible in the submitted dashboard screenshots</a:t>
            </a:r>
          </a:p>
        </p:txBody>
      </p:sp>
      <p:sp>
        <p:nvSpPr>
          <p:cNvPr id="5" name="Rectangle 4"/>
          <p:cNvSpPr/>
          <p:nvPr/>
        </p:nvSpPr>
        <p:spPr>
          <a:xfrm>
            <a:off x="502920" y="1335024"/>
            <a:ext cx="11155680" cy="2286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28816"/>
            <a:ext cx="457200" cy="182880"/>
          </a:xfrm>
          <a:prstGeom prst="rect">
            <a:avLst/>
          </a:prstGeom>
          <a:noFill/>
        </p:spPr>
        <p:txBody>
          <a:bodyPr wrap="square" lIns="73152" rIns="73152" tIns="36576" anchor="t">
            <a:spAutoFit/>
          </a:bodyPr>
          <a:lstStyle/>
          <a:p>
            <a:pPr algn="r">
              <a:spcAft>
                <a:spcPts val="500"/>
              </a:spcAft>
              <a:defRPr sz="900" b="1">
                <a:solidFill>
                  <a:srgbClr val="647191"/>
                </a:solidFill>
                <a:latin typeface="Aptos"/>
              </a:defRPr>
            </a:pPr>
            <a:r>
              <a:t>10</a:t>
            </a:r>
          </a:p>
        </p:txBody>
      </p:sp>
      <p:sp>
        <p:nvSpPr>
          <p:cNvPr id="7" name="Rounded Rectangle 6"/>
          <p:cNvSpPr/>
          <p:nvPr/>
        </p:nvSpPr>
        <p:spPr>
          <a:xfrm>
            <a:off x="640080" y="1645920"/>
            <a:ext cx="5303520" cy="11430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45920"/>
            <a:ext cx="64008" cy="114300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1737360"/>
            <a:ext cx="502920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INCIDENT SCALE</a:t>
            </a:r>
          </a:p>
        </p:txBody>
      </p:sp>
      <p:sp>
        <p:nvSpPr>
          <p:cNvPr id="10" name="TextBox 9"/>
          <p:cNvSpPr txBox="1"/>
          <p:nvPr/>
        </p:nvSpPr>
        <p:spPr>
          <a:xfrm>
            <a:off x="804671" y="2093976"/>
            <a:ext cx="5029200" cy="640080"/>
          </a:xfrm>
          <a:prstGeom prst="rect">
            <a:avLst/>
          </a:prstGeom>
          <a:noFill/>
        </p:spPr>
        <p:txBody>
          <a:bodyPr wrap="square" lIns="73152" rIns="73152" tIns="36576" anchor="t">
            <a:spAutoFit/>
          </a:bodyPr>
          <a:lstStyle/>
          <a:p>
            <a:pPr>
              <a:spcAft>
                <a:spcPts val="500"/>
              </a:spcAft>
              <a:defRPr sz="1200" b="0">
                <a:solidFill>
                  <a:srgbClr val="2A3358"/>
                </a:solidFill>
                <a:latin typeface="Aptos"/>
              </a:defRPr>
            </a:pPr>
            <a:r>
              <a:t>Overview shows 100K total incidents and approximately 91K reported incidents.</a:t>
            </a:r>
          </a:p>
        </p:txBody>
      </p:sp>
      <p:sp>
        <p:nvSpPr>
          <p:cNvPr id="11" name="Rounded Rectangle 10"/>
          <p:cNvSpPr/>
          <p:nvPr/>
        </p:nvSpPr>
        <p:spPr>
          <a:xfrm>
            <a:off x="6355080" y="1645920"/>
            <a:ext cx="5303520" cy="11430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645920"/>
            <a:ext cx="64008" cy="1143000"/>
          </a:xfrm>
          <a:prstGeom prst="rect">
            <a:avLst/>
          </a:prstGeom>
          <a:solidFill>
            <a:srgbClr val="237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1737360"/>
            <a:ext cx="502920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RISK INDICATORS</a:t>
            </a:r>
          </a:p>
        </p:txBody>
      </p:sp>
      <p:sp>
        <p:nvSpPr>
          <p:cNvPr id="14" name="TextBox 13"/>
          <p:cNvSpPr txBox="1"/>
          <p:nvPr/>
        </p:nvSpPr>
        <p:spPr>
          <a:xfrm>
            <a:off x="6519672" y="2093976"/>
            <a:ext cx="5029200" cy="640080"/>
          </a:xfrm>
          <a:prstGeom prst="rect">
            <a:avLst/>
          </a:prstGeom>
          <a:noFill/>
        </p:spPr>
        <p:txBody>
          <a:bodyPr wrap="square" lIns="73152" rIns="73152" tIns="36576" anchor="t">
            <a:spAutoFit/>
          </a:bodyPr>
          <a:lstStyle/>
          <a:p>
            <a:pPr>
              <a:spcAft>
                <a:spcPts val="500"/>
              </a:spcAft>
              <a:defRPr sz="1200" b="0">
                <a:solidFill>
                  <a:srgbClr val="2A3358"/>
                </a:solidFill>
                <a:latin typeface="Aptos"/>
              </a:defRPr>
            </a:pPr>
            <a:r>
              <a:t>High and Critical Risk is 33.00%; Night-Time Incident is 39.42%.</a:t>
            </a:r>
          </a:p>
        </p:txBody>
      </p:sp>
      <p:sp>
        <p:nvSpPr>
          <p:cNvPr id="15" name="Rounded Rectangle 14"/>
          <p:cNvSpPr/>
          <p:nvPr/>
        </p:nvSpPr>
        <p:spPr>
          <a:xfrm>
            <a:off x="640080" y="3063240"/>
            <a:ext cx="5303520" cy="11430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063240"/>
            <a:ext cx="64008" cy="114300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1" y="3154680"/>
            <a:ext cx="502920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SAFETY INDICATOR</a:t>
            </a:r>
          </a:p>
        </p:txBody>
      </p:sp>
      <p:sp>
        <p:nvSpPr>
          <p:cNvPr id="18" name="TextBox 17"/>
          <p:cNvSpPr txBox="1"/>
          <p:nvPr/>
        </p:nvSpPr>
        <p:spPr>
          <a:xfrm>
            <a:off x="804671" y="3511296"/>
            <a:ext cx="5029200" cy="640080"/>
          </a:xfrm>
          <a:prstGeom prst="rect">
            <a:avLst/>
          </a:prstGeom>
          <a:noFill/>
        </p:spPr>
        <p:txBody>
          <a:bodyPr wrap="square" lIns="73152" rIns="73152" tIns="36576" anchor="t">
            <a:spAutoFit/>
          </a:bodyPr>
          <a:lstStyle/>
          <a:p>
            <a:pPr>
              <a:spcAft>
                <a:spcPts val="500"/>
              </a:spcAft>
              <a:defRPr sz="1200" b="0">
                <a:solidFill>
                  <a:srgbClr val="2A3358"/>
                </a:solidFill>
                <a:latin typeface="Aptos"/>
              </a:defRPr>
            </a:pPr>
            <a:r>
              <a:t>The Overall Safety Index displayed is 62.81.</a:t>
            </a:r>
          </a:p>
        </p:txBody>
      </p:sp>
      <p:sp>
        <p:nvSpPr>
          <p:cNvPr id="19" name="Rounded Rectangle 18"/>
          <p:cNvSpPr/>
          <p:nvPr/>
        </p:nvSpPr>
        <p:spPr>
          <a:xfrm>
            <a:off x="6355080" y="3063240"/>
            <a:ext cx="5303520" cy="11430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55080" y="3063240"/>
            <a:ext cx="64008" cy="1143000"/>
          </a:xfrm>
          <a:prstGeom prst="rect">
            <a:avLst/>
          </a:prstGeom>
          <a:solidFill>
            <a:srgbClr val="237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9672" y="3154680"/>
            <a:ext cx="502920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TRANSPORT ANALYSIS</a:t>
            </a:r>
          </a:p>
        </p:txBody>
      </p:sp>
      <p:sp>
        <p:nvSpPr>
          <p:cNvPr id="22" name="TextBox 21"/>
          <p:cNvSpPr txBox="1"/>
          <p:nvPr/>
        </p:nvSpPr>
        <p:spPr>
          <a:xfrm>
            <a:off x="6519672" y="3511296"/>
            <a:ext cx="5029200" cy="640080"/>
          </a:xfrm>
          <a:prstGeom prst="rect">
            <a:avLst/>
          </a:prstGeom>
          <a:noFill/>
        </p:spPr>
        <p:txBody>
          <a:bodyPr wrap="square" lIns="73152" rIns="73152" tIns="36576" anchor="t">
            <a:spAutoFit/>
          </a:bodyPr>
          <a:lstStyle/>
          <a:p>
            <a:pPr>
              <a:spcAft>
                <a:spcPts val="500"/>
              </a:spcAft>
              <a:defRPr sz="1200" b="0">
                <a:solidFill>
                  <a:srgbClr val="2A3358"/>
                </a:solidFill>
                <a:latin typeface="Aptos"/>
              </a:defRPr>
            </a:pPr>
            <a:r>
              <a:t>Public Transport Incident measure is displayed as 44.85%.</a:t>
            </a:r>
          </a:p>
        </p:txBody>
      </p:sp>
      <p:sp>
        <p:nvSpPr>
          <p:cNvPr id="23" name="Rounded Rectangle 22"/>
          <p:cNvSpPr/>
          <p:nvPr/>
        </p:nvSpPr>
        <p:spPr>
          <a:xfrm>
            <a:off x="640080" y="4480560"/>
            <a:ext cx="5303520" cy="11430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4480560"/>
            <a:ext cx="64008" cy="114300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1" y="4572000"/>
            <a:ext cx="502920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EMERGENCY RESPONSE</a:t>
            </a:r>
          </a:p>
        </p:txBody>
      </p:sp>
      <p:sp>
        <p:nvSpPr>
          <p:cNvPr id="26" name="TextBox 25"/>
          <p:cNvSpPr txBox="1"/>
          <p:nvPr/>
        </p:nvSpPr>
        <p:spPr>
          <a:xfrm>
            <a:off x="804671" y="4928616"/>
            <a:ext cx="5029200" cy="640080"/>
          </a:xfrm>
          <a:prstGeom prst="rect">
            <a:avLst/>
          </a:prstGeom>
          <a:noFill/>
        </p:spPr>
        <p:txBody>
          <a:bodyPr wrap="square" lIns="73152" rIns="73152" tIns="36576" anchor="t">
            <a:spAutoFit/>
          </a:bodyPr>
          <a:lstStyle/>
          <a:p>
            <a:pPr>
              <a:spcAft>
                <a:spcPts val="500"/>
              </a:spcAft>
              <a:defRPr sz="1200" b="0">
                <a:solidFill>
                  <a:srgbClr val="2A3358"/>
                </a:solidFill>
                <a:latin typeface="Aptos"/>
              </a:defRPr>
            </a:pPr>
            <a:r>
              <a:t>Average Emergency Response Time is shown as 19.54.</a:t>
            </a:r>
          </a:p>
        </p:txBody>
      </p:sp>
      <p:sp>
        <p:nvSpPr>
          <p:cNvPr id="27" name="Rounded Rectangle 26"/>
          <p:cNvSpPr/>
          <p:nvPr/>
        </p:nvSpPr>
        <p:spPr>
          <a:xfrm>
            <a:off x="6355080" y="4480560"/>
            <a:ext cx="5303520" cy="11430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55080" y="4480560"/>
            <a:ext cx="64008" cy="1143000"/>
          </a:xfrm>
          <a:prstGeom prst="rect">
            <a:avLst/>
          </a:prstGeom>
          <a:solidFill>
            <a:srgbClr val="237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19672" y="4572000"/>
            <a:ext cx="502920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TIME AND PLACE</a:t>
            </a:r>
          </a:p>
        </p:txBody>
      </p:sp>
      <p:sp>
        <p:nvSpPr>
          <p:cNvPr id="30" name="TextBox 29"/>
          <p:cNvSpPr txBox="1"/>
          <p:nvPr/>
        </p:nvSpPr>
        <p:spPr>
          <a:xfrm>
            <a:off x="6519672" y="4928616"/>
            <a:ext cx="5029200" cy="640080"/>
          </a:xfrm>
          <a:prstGeom prst="rect">
            <a:avLst/>
          </a:prstGeom>
          <a:noFill/>
        </p:spPr>
        <p:txBody>
          <a:bodyPr wrap="square" lIns="73152" rIns="73152" tIns="36576" anchor="t">
            <a:spAutoFit/>
          </a:bodyPr>
          <a:lstStyle/>
          <a:p>
            <a:pPr>
              <a:spcAft>
                <a:spcPts val="500"/>
              </a:spcAft>
              <a:defRPr sz="1200" b="0">
                <a:solidFill>
                  <a:srgbClr val="2A3358"/>
                </a:solidFill>
                <a:latin typeface="Aptos"/>
              </a:defRPr>
            </a:pPr>
            <a:r>
              <a:t>Hotspots compares hour/day patterns, area counts and weekday/weekend incidents.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2FA"/>
        </a:solidFill>
        <a:effectLst/>
      </p:bgPr>
    </p:bg>
    <p:spTree>
      <p:nvGrpSpPr>
        <p:cNvPr id="1" name=""/>
        <p:cNvGrpSpPr/>
        <p:nvPr/>
      </p:nvGrpSpPr>
      <p:grpSpPr/>
      <p:sp>
        <p:nvSpPr>
          <p:cNvPr id="2" name="TextBox 1"/>
          <p:cNvSpPr txBox="1"/>
          <p:nvPr/>
        </p:nvSpPr>
        <p:spPr>
          <a:xfrm>
            <a:off x="502920" y="182880"/>
            <a:ext cx="10972800" cy="228600"/>
          </a:xfrm>
          <a:prstGeom prst="rect">
            <a:avLst/>
          </a:prstGeom>
          <a:noFill/>
        </p:spPr>
        <p:txBody>
          <a:bodyPr wrap="square" lIns="73152" rIns="73152" tIns="36576" anchor="t">
            <a:spAutoFit/>
          </a:bodyPr>
          <a:lstStyle/>
          <a:p>
            <a:pPr>
              <a:spcAft>
                <a:spcPts val="500"/>
              </a:spcAft>
              <a:defRPr sz="1000" b="1">
                <a:solidFill>
                  <a:srgbClr val="1C2C70"/>
                </a:solidFill>
                <a:latin typeface="Aptos"/>
              </a:defRPr>
            </a:pPr>
            <a:r>
              <a:t>DATA  |  INSIGHTS  |  SAFER TOMORROW</a:t>
            </a:r>
          </a:p>
        </p:txBody>
      </p:sp>
      <p:sp>
        <p:nvSpPr>
          <p:cNvPr id="3" name="TextBox 2"/>
          <p:cNvSpPr txBox="1"/>
          <p:nvPr/>
        </p:nvSpPr>
        <p:spPr>
          <a:xfrm>
            <a:off x="502920" y="457200"/>
            <a:ext cx="11155680" cy="502920"/>
          </a:xfrm>
          <a:prstGeom prst="rect">
            <a:avLst/>
          </a:prstGeom>
          <a:noFill/>
        </p:spPr>
        <p:txBody>
          <a:bodyPr wrap="square" lIns="73152" rIns="73152" tIns="36576" anchor="t">
            <a:spAutoFit/>
          </a:bodyPr>
          <a:lstStyle/>
          <a:p>
            <a:pPr>
              <a:spcAft>
                <a:spcPts val="500"/>
              </a:spcAft>
              <a:defRPr sz="2600" b="1">
                <a:solidFill>
                  <a:srgbClr val="237BBE"/>
                </a:solidFill>
                <a:latin typeface="Aptos"/>
              </a:defRPr>
            </a:pPr>
            <a:r>
              <a:t>Design System &amp; Technical Skills</a:t>
            </a:r>
          </a:p>
        </p:txBody>
      </p:sp>
      <p:sp>
        <p:nvSpPr>
          <p:cNvPr id="4" name="TextBox 3"/>
          <p:cNvSpPr txBox="1"/>
          <p:nvPr/>
        </p:nvSpPr>
        <p:spPr>
          <a:xfrm>
            <a:off x="530352" y="969264"/>
            <a:ext cx="10972800" cy="310896"/>
          </a:xfrm>
          <a:prstGeom prst="rect">
            <a:avLst/>
          </a:prstGeom>
          <a:noFill/>
        </p:spPr>
        <p:txBody>
          <a:bodyPr wrap="square" lIns="73152" rIns="73152" tIns="36576" anchor="t">
            <a:spAutoFit/>
          </a:bodyPr>
          <a:lstStyle/>
          <a:p>
            <a:pPr>
              <a:spcAft>
                <a:spcPts val="500"/>
              </a:spcAft>
              <a:defRPr sz="1300" b="0">
                <a:solidFill>
                  <a:srgbClr val="DE3FA3"/>
                </a:solidFill>
                <a:latin typeface="Aptos"/>
              </a:defRPr>
            </a:pPr>
            <a:r>
              <a:t>A consistent visual language supports clear dashboard navigation</a:t>
            </a:r>
          </a:p>
        </p:txBody>
      </p:sp>
      <p:sp>
        <p:nvSpPr>
          <p:cNvPr id="5" name="Rectangle 4"/>
          <p:cNvSpPr/>
          <p:nvPr/>
        </p:nvSpPr>
        <p:spPr>
          <a:xfrm>
            <a:off x="502920" y="1335024"/>
            <a:ext cx="11155680" cy="2286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28816"/>
            <a:ext cx="457200" cy="182880"/>
          </a:xfrm>
          <a:prstGeom prst="rect">
            <a:avLst/>
          </a:prstGeom>
          <a:noFill/>
        </p:spPr>
        <p:txBody>
          <a:bodyPr wrap="square" lIns="73152" rIns="73152" tIns="36576" anchor="t">
            <a:spAutoFit/>
          </a:bodyPr>
          <a:lstStyle/>
          <a:p>
            <a:pPr algn="r">
              <a:spcAft>
                <a:spcPts val="500"/>
              </a:spcAft>
              <a:defRPr sz="900" b="1">
                <a:solidFill>
                  <a:srgbClr val="647191"/>
                </a:solidFill>
                <a:latin typeface="Aptos"/>
              </a:defRPr>
            </a:pPr>
            <a:r>
              <a:t>11</a:t>
            </a:r>
          </a:p>
        </p:txBody>
      </p:sp>
      <p:sp>
        <p:nvSpPr>
          <p:cNvPr id="7" name="Rounded Rectangle 6"/>
          <p:cNvSpPr/>
          <p:nvPr/>
        </p:nvSpPr>
        <p:spPr>
          <a:xfrm>
            <a:off x="685800" y="1691640"/>
            <a:ext cx="5303520" cy="36576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691640"/>
            <a:ext cx="64008" cy="3657600"/>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783080"/>
            <a:ext cx="502920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TECHNICAL STACK</a:t>
            </a:r>
          </a:p>
        </p:txBody>
      </p:sp>
      <p:sp>
        <p:nvSpPr>
          <p:cNvPr id="10" name="TextBox 9"/>
          <p:cNvSpPr txBox="1"/>
          <p:nvPr/>
        </p:nvSpPr>
        <p:spPr>
          <a:xfrm>
            <a:off x="850392" y="2139696"/>
            <a:ext cx="5029200" cy="3154680"/>
          </a:xfrm>
          <a:prstGeom prst="rect">
            <a:avLst/>
          </a:prstGeom>
          <a:noFill/>
        </p:spPr>
        <p:txBody>
          <a:bodyPr wrap="square" lIns="73152" rIns="73152" tIns="36576" anchor="t">
            <a:spAutoFit/>
          </a:bodyPr>
          <a:lstStyle/>
          <a:p>
            <a:pPr>
              <a:spcAft>
                <a:spcPts val="500"/>
              </a:spcAft>
              <a:defRPr sz="1500" b="0">
                <a:solidFill>
                  <a:srgbClr val="2A3358"/>
                </a:solidFill>
                <a:latin typeface="Aptos"/>
              </a:defRPr>
            </a:pPr>
            <a:r>
              <a:t>• Microsoft Power BI</a:t>
            </a:r>
          </a:p>
          <a:p>
            <a:pPr>
              <a:spcAft>
                <a:spcPts val="500"/>
              </a:spcAft>
              <a:defRPr sz="1500" b="0">
                <a:solidFill>
                  <a:srgbClr val="2A3358"/>
                </a:solidFill>
                <a:latin typeface="Aptos"/>
              </a:defRPr>
            </a:pPr>
            <a:r>
              <a:t>• Power Query for data preparation</a:t>
            </a:r>
          </a:p>
          <a:p>
            <a:pPr>
              <a:spcAft>
                <a:spcPts val="500"/>
              </a:spcAft>
              <a:defRPr sz="1500" b="0">
                <a:solidFill>
                  <a:srgbClr val="2A3358"/>
                </a:solidFill>
                <a:latin typeface="Aptos"/>
              </a:defRPr>
            </a:pPr>
            <a:r>
              <a:t>• DAX measures and KPI calculations</a:t>
            </a:r>
          </a:p>
          <a:p>
            <a:pPr>
              <a:spcAft>
                <a:spcPts val="500"/>
              </a:spcAft>
              <a:defRPr sz="1500" b="0">
                <a:solidFill>
                  <a:srgbClr val="2A3358"/>
                </a:solidFill>
                <a:latin typeface="Aptos"/>
              </a:defRPr>
            </a:pPr>
            <a:r>
              <a:t>• DateTable and date relationship</a:t>
            </a:r>
          </a:p>
          <a:p>
            <a:pPr>
              <a:spcAft>
                <a:spcPts val="500"/>
              </a:spcAft>
              <a:defRPr sz="1500" b="0">
                <a:solidFill>
                  <a:srgbClr val="2A3358"/>
                </a:solidFill>
                <a:latin typeface="Aptos"/>
              </a:defRPr>
            </a:pPr>
            <a:r>
              <a:t>• Data visualization and interactive filtering</a:t>
            </a:r>
          </a:p>
          <a:p>
            <a:pPr>
              <a:spcAft>
                <a:spcPts val="500"/>
              </a:spcAft>
              <a:defRPr sz="1500" b="0">
                <a:solidFill>
                  <a:srgbClr val="2A3358"/>
                </a:solidFill>
                <a:latin typeface="Aptos"/>
              </a:defRPr>
            </a:pPr>
            <a:r>
              <a:t>• Dashboard navigation and layout design</a:t>
            </a:r>
          </a:p>
        </p:txBody>
      </p:sp>
      <p:sp>
        <p:nvSpPr>
          <p:cNvPr id="11" name="Rounded Rectangle 10"/>
          <p:cNvSpPr/>
          <p:nvPr/>
        </p:nvSpPr>
        <p:spPr>
          <a:xfrm>
            <a:off x="6217920" y="1691640"/>
            <a:ext cx="5257800" cy="3657600"/>
          </a:xfrm>
          <a:prstGeom prst="roundRect">
            <a:avLst/>
          </a:prstGeom>
          <a:solidFill>
            <a:srgbClr val="FFFFFF"/>
          </a:solidFill>
          <a:ln>
            <a:solidFill>
              <a:srgbClr val="DA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691640"/>
            <a:ext cx="64008" cy="3657600"/>
          </a:xfrm>
          <a:prstGeom prst="rect">
            <a:avLst/>
          </a:prstGeom>
          <a:solidFill>
            <a:srgbClr val="237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783080"/>
            <a:ext cx="4983480" cy="292608"/>
          </a:xfrm>
          <a:prstGeom prst="rect">
            <a:avLst/>
          </a:prstGeom>
          <a:noFill/>
        </p:spPr>
        <p:txBody>
          <a:bodyPr wrap="square" lIns="73152" rIns="73152" tIns="36576" anchor="t">
            <a:spAutoFit/>
          </a:bodyPr>
          <a:lstStyle/>
          <a:p>
            <a:pPr>
              <a:spcAft>
                <a:spcPts val="500"/>
              </a:spcAft>
              <a:defRPr sz="1400" b="1">
                <a:solidFill>
                  <a:srgbClr val="1C2C70"/>
                </a:solidFill>
                <a:latin typeface="Aptos"/>
              </a:defRPr>
            </a:pPr>
            <a:r>
              <a:t>DESIGN PRINCIPLES</a:t>
            </a:r>
          </a:p>
        </p:txBody>
      </p:sp>
      <p:sp>
        <p:nvSpPr>
          <p:cNvPr id="14" name="TextBox 13"/>
          <p:cNvSpPr txBox="1"/>
          <p:nvPr/>
        </p:nvSpPr>
        <p:spPr>
          <a:xfrm>
            <a:off x="6382512" y="2139696"/>
            <a:ext cx="4983480" cy="3154680"/>
          </a:xfrm>
          <a:prstGeom prst="rect">
            <a:avLst/>
          </a:prstGeom>
          <a:noFill/>
        </p:spPr>
        <p:txBody>
          <a:bodyPr wrap="square" lIns="73152" rIns="73152" tIns="36576" anchor="t">
            <a:spAutoFit/>
          </a:bodyPr>
          <a:lstStyle/>
          <a:p>
            <a:pPr>
              <a:spcAft>
                <a:spcPts val="500"/>
              </a:spcAft>
              <a:defRPr sz="1500" b="0">
                <a:solidFill>
                  <a:srgbClr val="2A3358"/>
                </a:solidFill>
                <a:latin typeface="Aptos"/>
              </a:defRPr>
            </a:pPr>
            <a:r>
              <a:t>• Consistent page navigation</a:t>
            </a:r>
          </a:p>
          <a:p>
            <a:pPr>
              <a:spcAft>
                <a:spcPts val="500"/>
              </a:spcAft>
              <a:defRPr sz="1500" b="0">
                <a:solidFill>
                  <a:srgbClr val="2A3358"/>
                </a:solidFill>
                <a:latin typeface="Aptos"/>
              </a:defRPr>
            </a:pPr>
            <a:r>
              <a:t>• KPI-first visual hierarchy</a:t>
            </a:r>
          </a:p>
          <a:p>
            <a:pPr>
              <a:spcAft>
                <a:spcPts val="500"/>
              </a:spcAft>
              <a:defRPr sz="1500" b="0">
                <a:solidFill>
                  <a:srgbClr val="2A3358"/>
                </a:solidFill>
                <a:latin typeface="Aptos"/>
              </a:defRPr>
            </a:pPr>
            <a:r>
              <a:t>• Coordinated blue, pink and white palette</a:t>
            </a:r>
          </a:p>
          <a:p>
            <a:pPr>
              <a:spcAft>
                <a:spcPts val="500"/>
              </a:spcAft>
              <a:defRPr sz="1500" b="0">
                <a:solidFill>
                  <a:srgbClr val="2A3358"/>
                </a:solidFill>
                <a:latin typeface="Aptos"/>
              </a:defRPr>
            </a:pPr>
            <a:r>
              <a:t>• Clear chart titles and labels</a:t>
            </a:r>
          </a:p>
          <a:p>
            <a:pPr>
              <a:spcAft>
                <a:spcPts val="500"/>
              </a:spcAft>
              <a:defRPr sz="1500" b="0">
                <a:solidFill>
                  <a:srgbClr val="2A3358"/>
                </a:solidFill>
                <a:latin typeface="Aptos"/>
              </a:defRPr>
            </a:pPr>
            <a:r>
              <a:t>• Multiple views for different analytical questions</a:t>
            </a:r>
          </a:p>
          <a:p>
            <a:pPr>
              <a:spcAft>
                <a:spcPts val="500"/>
              </a:spcAft>
              <a:defRPr sz="1500" b="0">
                <a:solidFill>
                  <a:srgbClr val="2A3358"/>
                </a:solidFill>
                <a:latin typeface="Aptos"/>
              </a:defRPr>
            </a:pPr>
            <a:r>
              <a:t>• Tables, charts, cards and slicers in one report</a:t>
            </a:r>
          </a:p>
        </p:txBody>
      </p:sp>
      <p:sp>
        <p:nvSpPr>
          <p:cNvPr id="15" name="TextBox 14"/>
          <p:cNvSpPr txBox="1"/>
          <p:nvPr/>
        </p:nvSpPr>
        <p:spPr>
          <a:xfrm>
            <a:off x="822960" y="5715000"/>
            <a:ext cx="10515600" cy="320040"/>
          </a:xfrm>
          <a:prstGeom prst="rect">
            <a:avLst/>
          </a:prstGeom>
          <a:noFill/>
        </p:spPr>
        <p:txBody>
          <a:bodyPr wrap="square" lIns="73152" rIns="73152" tIns="36576" anchor="t">
            <a:spAutoFit/>
          </a:bodyPr>
          <a:lstStyle/>
          <a:p>
            <a:pPr algn="ctr">
              <a:spcAft>
                <a:spcPts val="500"/>
              </a:spcAft>
              <a:defRPr sz="1300" b="1">
                <a:solidFill>
                  <a:srgbClr val="1C2C70"/>
                </a:solidFill>
                <a:latin typeface="Aptos"/>
              </a:defRPr>
            </a:pPr>
            <a:r>
              <a:t>CORE TOOLS  •  POWER BI  •  POWER QUERY  •  DAX  •  DATA STORYTELLING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C70"/>
        </a:solidFill>
        <a:effectLst/>
      </p:bgPr>
    </p:bg>
    <p:spTree>
      <p:nvGrpSpPr>
        <p:cNvPr id="1" name=""/>
        <p:cNvGrpSpPr/>
        <p:nvPr/>
      </p:nvGrpSpPr>
      <p:grpSpPr/>
      <p:sp>
        <p:nvSpPr>
          <p:cNvPr id="2" name="Rectangle 1"/>
          <p:cNvSpPr/>
          <p:nvPr/>
        </p:nvSpPr>
        <p:spPr>
          <a:xfrm>
            <a:off x="0" y="0"/>
            <a:ext cx="12188952" cy="118872"/>
          </a:xfrm>
          <a:prstGeom prst="rect">
            <a:avLst/>
          </a:prstGeom>
          <a:solidFill>
            <a:srgbClr val="DE3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88952" cy="146304"/>
          </a:xfrm>
          <a:prstGeom prst="rect">
            <a:avLst/>
          </a:prstGeom>
          <a:solidFill>
            <a:srgbClr val="38B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6858000"/>
          </a:xfrm>
          <a:prstGeom prst="rect">
            <a:avLst/>
          </a:prstGeom>
          <a:solidFill>
            <a:srgbClr val="237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822960"/>
            <a:ext cx="10515600" cy="365760"/>
          </a:xfrm>
          <a:prstGeom prst="rect">
            <a:avLst/>
          </a:prstGeom>
          <a:noFill/>
        </p:spPr>
        <p:txBody>
          <a:bodyPr wrap="square" lIns="73152" rIns="73152" tIns="36576" anchor="t">
            <a:spAutoFit/>
          </a:bodyPr>
          <a:lstStyle/>
          <a:p>
            <a:pPr algn="ctr">
              <a:spcAft>
                <a:spcPts val="500"/>
              </a:spcAft>
              <a:defRPr sz="1600" b="1">
                <a:solidFill>
                  <a:srgbClr val="38B7CC"/>
                </a:solidFill>
                <a:latin typeface="Aptos"/>
              </a:defRPr>
            </a:pPr>
            <a:r>
              <a:t>SAFEMOVE</a:t>
            </a:r>
          </a:p>
        </p:txBody>
      </p:sp>
      <p:sp>
        <p:nvSpPr>
          <p:cNvPr id="6" name="TextBox 5"/>
          <p:cNvSpPr txBox="1"/>
          <p:nvPr/>
        </p:nvSpPr>
        <p:spPr>
          <a:xfrm>
            <a:off x="914400" y="1554480"/>
            <a:ext cx="10332720" cy="731520"/>
          </a:xfrm>
          <a:prstGeom prst="rect">
            <a:avLst/>
          </a:prstGeom>
          <a:noFill/>
        </p:spPr>
        <p:txBody>
          <a:bodyPr wrap="square" lIns="73152" rIns="73152" tIns="36576" anchor="t">
            <a:spAutoFit/>
          </a:bodyPr>
          <a:lstStyle/>
          <a:p>
            <a:pPr algn="ctr">
              <a:spcAft>
                <a:spcPts val="500"/>
              </a:spcAft>
              <a:defRPr sz="3000" b="1">
                <a:solidFill>
                  <a:srgbClr val="FFFFFF"/>
                </a:solidFill>
                <a:latin typeface="Aptos"/>
              </a:defRPr>
            </a:pPr>
            <a:r>
              <a:t>From Data to Safer Mobility Insights</a:t>
            </a:r>
          </a:p>
        </p:txBody>
      </p:sp>
      <p:sp>
        <p:nvSpPr>
          <p:cNvPr id="7" name="TextBox 6"/>
          <p:cNvSpPr txBox="1"/>
          <p:nvPr/>
        </p:nvSpPr>
        <p:spPr>
          <a:xfrm>
            <a:off x="1417320" y="2606040"/>
            <a:ext cx="9326880" cy="1143000"/>
          </a:xfrm>
          <a:prstGeom prst="rect">
            <a:avLst/>
          </a:prstGeom>
          <a:noFill/>
        </p:spPr>
        <p:txBody>
          <a:bodyPr wrap="square" lIns="73152" rIns="73152" tIns="36576" anchor="ctr">
            <a:spAutoFit/>
          </a:bodyPr>
          <a:lstStyle/>
          <a:p>
            <a:pPr algn="ctr">
              <a:spcAft>
                <a:spcPts val="500"/>
              </a:spcAft>
              <a:defRPr sz="1800" b="0">
                <a:solidFill>
                  <a:srgbClr val="FFFFFF"/>
                </a:solidFill>
                <a:latin typeface="Aptos"/>
              </a:defRPr>
            </a:pPr>
            <a:r>
              <a:t>SafeMove brings together incident trends, hotspot exploration, transport and environmental indicators, and emergency response outcomes in one interactive Power BI experience.</a:t>
            </a:r>
          </a:p>
        </p:txBody>
      </p:sp>
      <p:sp>
        <p:nvSpPr>
          <p:cNvPr id="8" name="TextBox 7"/>
          <p:cNvSpPr txBox="1"/>
          <p:nvPr/>
        </p:nvSpPr>
        <p:spPr>
          <a:xfrm>
            <a:off x="1828800" y="4617720"/>
            <a:ext cx="8503920" cy="457200"/>
          </a:xfrm>
          <a:prstGeom prst="rect">
            <a:avLst/>
          </a:prstGeom>
          <a:noFill/>
        </p:spPr>
        <p:txBody>
          <a:bodyPr wrap="square" lIns="73152" rIns="73152" tIns="36576" anchor="t">
            <a:spAutoFit/>
          </a:bodyPr>
          <a:lstStyle/>
          <a:p>
            <a:pPr algn="ctr">
              <a:spcAft>
                <a:spcPts val="500"/>
              </a:spcAft>
              <a:defRPr sz="2200" b="1">
                <a:solidFill>
                  <a:srgbClr val="DE3FA3"/>
                </a:solidFill>
                <a:latin typeface="Aptos"/>
              </a:defRPr>
            </a:pPr>
            <a:r>
              <a:t>THANK YOU</a:t>
            </a:r>
          </a:p>
        </p:txBody>
      </p:sp>
      <p:sp>
        <p:nvSpPr>
          <p:cNvPr id="9" name="TextBox 8"/>
          <p:cNvSpPr txBox="1"/>
          <p:nvPr/>
        </p:nvSpPr>
        <p:spPr>
          <a:xfrm>
            <a:off x="1828800" y="5212080"/>
            <a:ext cx="8503920" cy="365760"/>
          </a:xfrm>
          <a:prstGeom prst="rect">
            <a:avLst/>
          </a:prstGeom>
          <a:noFill/>
        </p:spPr>
        <p:txBody>
          <a:bodyPr wrap="square" lIns="73152" rIns="73152" tIns="36576" anchor="t">
            <a:spAutoFit/>
          </a:bodyPr>
          <a:lstStyle/>
          <a:p>
            <a:pPr algn="ctr">
              <a:spcAft>
                <a:spcPts val="500"/>
              </a:spcAft>
              <a:defRPr sz="1500" b="0">
                <a:solidFill>
                  <a:srgbClr val="FFFFFF"/>
                </a:solidFill>
                <a:latin typeface="Aptos"/>
              </a:defRPr>
            </a:pPr>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